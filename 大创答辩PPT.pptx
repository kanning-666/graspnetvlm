
<file path=[Content_Types].xml><?xml version="1.0" encoding="utf-8"?>
<Types xmlns="http://schemas.openxmlformats.org/package/2006/content-types">
  <Default Extension="jpeg" ContentType="image/jpeg"/>
  <Default Extension="JPG" ContentType="image/.jpg"/>
  <Default Extension="xlsx" ContentType="application/vnd.openxmlformats-officedocument.spreadsheetml.sheet"/>
  <Default Extension="png" ContentType="image/png"/>
  <Default Extension="mp3" ContentType="audio/mp3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olors1.xml" ContentType="application/vnd.ms-office.chartcolorstyle+xml"/>
  <Override PartName="/ppt/charts/colors2.xml" ContentType="application/vnd.ms-office.chartcolorstyle+xml"/>
  <Override PartName="/ppt/charts/style1.xml" ContentType="application/vnd.ms-office.chartstyle+xml"/>
  <Override PartName="/ppt/charts/style2.xml" ContentType="application/vnd.ms-office.chartstyle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7" r:id="rId3"/>
    <p:sldId id="301" r:id="rId5"/>
    <p:sldId id="293" r:id="rId6"/>
    <p:sldId id="292" r:id="rId7"/>
    <p:sldId id="304" r:id="rId8"/>
    <p:sldId id="305" r:id="rId9"/>
    <p:sldId id="303" r:id="rId10"/>
    <p:sldId id="294" r:id="rId11"/>
    <p:sldId id="298" r:id="rId12"/>
    <p:sldId id="291" r:id="rId1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24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14723"/>
    <a:srgbClr val="FF5D5D"/>
    <a:srgbClr val="C00000"/>
    <a:srgbClr val="CC3300"/>
    <a:srgbClr val="3A6695"/>
    <a:srgbClr val="9CC5FD"/>
    <a:srgbClr val="134263"/>
    <a:srgbClr val="1E2B5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412" autoAdjust="0"/>
    <p:restoredTop sz="95780" autoAdjust="0"/>
  </p:normalViewPr>
  <p:slideViewPr>
    <p:cSldViewPr snapToGrid="0" showGuides="1">
      <p:cViewPr varScale="1">
        <p:scale>
          <a:sx n="87" d="100"/>
          <a:sy n="87" d="100"/>
        </p:scale>
        <p:origin x="-32" y="144"/>
      </p:cViewPr>
      <p:guideLst>
        <p:guide orient="horz" pos="2224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25" d="100"/>
        <a:sy n="25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6" Type="http://schemas.openxmlformats.org/officeDocument/2006/relationships/tableStyles" Target="tableStyles.xml"/><Relationship Id="rId15" Type="http://schemas.openxmlformats.org/officeDocument/2006/relationships/viewProps" Target="viewProps.xml"/><Relationship Id="rId14" Type="http://schemas.openxmlformats.org/officeDocument/2006/relationships/presProps" Target="presProps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charts/_rels/chart1.xml.rels><?xml version="1.0" encoding="UTF-8" standalone="yes"?>
<Relationships xmlns="http://schemas.openxmlformats.org/package/2006/relationships"><Relationship Id="rId3" Type="http://schemas.microsoft.com/office/2011/relationships/chartColorStyle" Target="colors1.xml"/><Relationship Id="rId2" Type="http://schemas.microsoft.com/office/2011/relationships/chartStyle" Target="style1.xml"/><Relationship Id="rId1" Type="http://schemas.openxmlformats.org/officeDocument/2006/relationships/package" Target="../embeddings/Workbook1.xlsx"/></Relationships>
</file>

<file path=ppt/charts/_rels/chart2.xml.rels><?xml version="1.0" encoding="UTF-8" standalone="yes"?>
<Relationships xmlns="http://schemas.openxmlformats.org/package/2006/relationships"><Relationship Id="rId3" Type="http://schemas.microsoft.com/office/2011/relationships/chartColorStyle" Target="colors2.xml"/><Relationship Id="rId2" Type="http://schemas.microsoft.com/office/2011/relationships/chartStyle" Target="style2.xml"/><Relationship Id="rId1" Type="http://schemas.openxmlformats.org/officeDocument/2006/relationships/package" Target="../embeddings/Workbook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206231139242279"/>
          <c:y val="0.0381084652022415"/>
          <c:w val="0.508521303258145"/>
          <c:h val="0.902178746109382"/>
        </c:manualLayout>
      </c:layout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销售额</c:v>
                </c:pt>
              </c:strCache>
            </c:strRef>
          </c:tx>
          <c:spPr/>
          <c:explosion val="0"/>
          <c:dPt>
            <c:idx val="0"/>
            <c:bubble3D val="0"/>
            <c:spPr>
              <a:solidFill>
                <a:schemeClr val="accent1"/>
              </a:solidFill>
              <a:ln>
                <a:solidFill>
                  <a:schemeClr val="bg1"/>
                </a:solidFill>
              </a:ln>
              <a:effectLst/>
            </c:spPr>
          </c:dPt>
          <c:dPt>
            <c:idx val="1"/>
            <c:bubble3D val="0"/>
            <c:spPr>
              <a:solidFill>
                <a:schemeClr val="accent2"/>
              </a:solidFill>
              <a:ln>
                <a:solidFill>
                  <a:schemeClr val="bg1"/>
                </a:solidFill>
              </a:ln>
              <a:effectLst/>
            </c:spPr>
          </c:dPt>
          <c:dPt>
            <c:idx val="2"/>
            <c:bubble3D val="0"/>
            <c:spPr>
              <a:solidFill>
                <a:schemeClr val="accent3"/>
              </a:solidFill>
              <a:ln>
                <a:solidFill>
                  <a:schemeClr val="bg1"/>
                </a:solidFill>
              </a:ln>
              <a:effectLst/>
            </c:spPr>
          </c:dPt>
          <c:dPt>
            <c:idx val="3"/>
            <c:bubble3D val="0"/>
            <c:spPr>
              <a:solidFill>
                <a:schemeClr val="accent4"/>
              </a:solidFill>
              <a:ln>
                <a:solidFill>
                  <a:schemeClr val="bg1"/>
                </a:solidFill>
              </a:ln>
              <a:effectLst/>
            </c:spPr>
          </c:dPt>
          <c:dLbls>
            <c:delete val="1"/>
          </c:dLbls>
          <c:cat>
            <c:strRef>
              <c:f>Sheet1!$A$2:$A$5</c:f>
              <c:strCache>
                <c:ptCount val="4"/>
                <c:pt idx="0">
                  <c:v>第一季度</c:v>
                </c:pt>
                <c:pt idx="1">
                  <c:v>第二季度</c:v>
                </c:pt>
                <c:pt idx="2">
                  <c:v>第三季度</c:v>
                </c:pt>
                <c:pt idx="3">
                  <c:v>第四季度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90</c:v>
                </c:pt>
                <c:pt idx="1">
                  <c:v>10</c:v>
                </c:pt>
                <c:pt idx="2">
                  <c:v>0</c:v>
                </c:pt>
                <c:pt idx="3">
                  <c:v>0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60"/>
      </c:doughnutChart>
      <c:spPr>
        <a:noFill/>
        <a:ln>
          <a:noFill/>
        </a:ln>
        <a:effectLst/>
      </c:spPr>
    </c:plotArea>
    <c:plotVisOnly val="1"/>
    <c:dispBlanksAs val="gap"/>
    <c:showDLblsOverMax val="0"/>
    <c:extLst>
      <c:ext uri="{0b15fc19-7d7d-44ad-8c2d-2c3a37ce22c3}">
        <chartProps xmlns="https://web.wps.cn/et/2018/main" chartId="{0639ab1c-0d1b-418a-8cd8-bf6f46ed4528}"/>
      </c:ext>
    </c:extLst>
  </c:chart>
  <c:spPr>
    <a:noFill/>
    <a:ln>
      <a:noFill/>
    </a:ln>
    <a:effectLst/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206231139242279"/>
          <c:y val="0.0381084652022415"/>
          <c:w val="0.508521303258145"/>
          <c:h val="0.902178746109382"/>
        </c:manualLayout>
      </c:layout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销售额</c:v>
                </c:pt>
              </c:strCache>
            </c:strRef>
          </c:tx>
          <c:spPr/>
          <c:explosion val="0"/>
          <c:dPt>
            <c:idx val="0"/>
            <c:bubble3D val="0"/>
            <c:spPr>
              <a:solidFill>
                <a:schemeClr val="accent1"/>
              </a:solidFill>
              <a:ln>
                <a:solidFill>
                  <a:schemeClr val="bg1"/>
                </a:solidFill>
              </a:ln>
              <a:effectLst/>
            </c:spPr>
          </c:dPt>
          <c:dPt>
            <c:idx val="1"/>
            <c:bubble3D val="0"/>
            <c:spPr>
              <a:solidFill>
                <a:schemeClr val="accent2"/>
              </a:solidFill>
              <a:ln>
                <a:solidFill>
                  <a:schemeClr val="bg1"/>
                </a:solidFill>
              </a:ln>
              <a:effectLst/>
            </c:spPr>
          </c:dPt>
          <c:dPt>
            <c:idx val="2"/>
            <c:bubble3D val="0"/>
            <c:spPr>
              <a:solidFill>
                <a:schemeClr val="accent3"/>
              </a:solidFill>
              <a:ln>
                <a:solidFill>
                  <a:schemeClr val="bg1"/>
                </a:solidFill>
              </a:ln>
              <a:effectLst/>
            </c:spPr>
          </c:dPt>
          <c:dPt>
            <c:idx val="3"/>
            <c:bubble3D val="0"/>
            <c:spPr>
              <a:solidFill>
                <a:schemeClr val="accent4"/>
              </a:solidFill>
              <a:ln>
                <a:solidFill>
                  <a:schemeClr val="bg1"/>
                </a:solidFill>
              </a:ln>
              <a:effectLst/>
            </c:spPr>
          </c:dPt>
          <c:dLbls>
            <c:delete val="1"/>
          </c:dLbls>
          <c:cat>
            <c:strRef>
              <c:f>Sheet1!$A$2:$A$5</c:f>
              <c:strCache>
                <c:ptCount val="4"/>
                <c:pt idx="0">
                  <c:v>第一季度</c:v>
                </c:pt>
                <c:pt idx="1">
                  <c:v>第二季度</c:v>
                </c:pt>
                <c:pt idx="2">
                  <c:v>第三季度</c:v>
                </c:pt>
                <c:pt idx="3">
                  <c:v>第四季度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30</c:v>
                </c:pt>
                <c:pt idx="1">
                  <c:v>70</c:v>
                </c:pt>
                <c:pt idx="2">
                  <c:v>0</c:v>
                </c:pt>
                <c:pt idx="3">
                  <c:v>0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60"/>
      </c:doughnutChart>
      <c:spPr>
        <a:noFill/>
        <a:ln>
          <a:noFill/>
        </a:ln>
        <a:effectLst/>
      </c:spPr>
    </c:plotArea>
    <c:plotVisOnly val="1"/>
    <c:dispBlanksAs val="gap"/>
    <c:showDLblsOverMax val="0"/>
    <c:extLst>
      <c:ext uri="{0b15fc19-7d7d-44ad-8c2d-2c3a37ce22c3}">
        <chartProps xmlns="https://web.wps.cn/et/2018/main" chartId="{0639ab1c-0d1b-418a-8cd8-bf6f46ed4528}"/>
      </c:ext>
    </c:extLst>
  </c:chart>
  <c:spPr>
    <a:noFill/>
    <a:ln>
      <a:noFill/>
    </a:ln>
    <a:effectLst/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10109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0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0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1">
      <cs:styleClr val="auto"/>
    </cs:fillRef>
    <cs:effectRef idx="0"/>
    <cs:fontRef idx="minor">
      <a:schemeClr val="dk1"/>
    </cs:fontRef>
    <cs:spPr>
      <a:ln>
        <a:solidFill>
          <a:schemeClr val="bg1"/>
        </a:solidFill>
      </a:ln>
      <a:effectLst/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02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75000"/>
        <a:lumOff val="25000"/>
      </a:schemeClr>
    </cs:fontRef>
    <cs:defRPr sz="1400" b="1" kern="120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10109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0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0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1">
      <cs:styleClr val="auto"/>
    </cs:fillRef>
    <cs:effectRef idx="0"/>
    <cs:fontRef idx="minor">
      <a:schemeClr val="dk1"/>
    </cs:fontRef>
    <cs:spPr>
      <a:ln>
        <a:solidFill>
          <a:schemeClr val="bg1"/>
        </a:solidFill>
      </a:ln>
      <a:effectLst/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02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75000"/>
        <a:lumOff val="25000"/>
      </a:schemeClr>
    </cs:fontRef>
    <cs:defRPr sz="1400" b="1" kern="120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7CE4261-0CDD-45A3-84C2-311859DE5B03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EF711DA-82CB-44C8-99EC-9CE596A896FB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F711DA-82CB-44C8-99EC-9CE596A896F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F711DA-82CB-44C8-99EC-9CE596A896F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F711DA-82CB-44C8-99EC-9CE596A896F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F711DA-82CB-44C8-99EC-9CE596A896F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F711DA-82CB-44C8-99EC-9CE596A896F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F711DA-82CB-44C8-99EC-9CE596A896F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F711DA-82CB-44C8-99EC-9CE596A896F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F711DA-82CB-44C8-99EC-9CE596A896F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F711DA-82CB-44C8-99EC-9CE596A896F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F711DA-82CB-44C8-99EC-9CE596A896F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单击以编辑母版副标题样式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4536CA-A6C4-4358-AF93-5CCBD70D248C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537B7A-7510-410A-AA53-45D600DA02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4536CA-A6C4-4358-AF93-5CCBD70D248C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537B7A-7510-410A-AA53-45D600DA02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4536CA-A6C4-4358-AF93-5CCBD70D248C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537B7A-7510-410A-AA53-45D600DA02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4536CA-A6C4-4358-AF93-5CCBD70D248C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537B7A-7510-410A-AA53-45D600DA02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4536CA-A6C4-4358-AF93-5CCBD70D248C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537B7A-7510-410A-AA53-45D600DA02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4536CA-A6C4-4358-AF93-5CCBD70D248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537B7A-7510-410A-AA53-45D600DA02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4536CA-A6C4-4358-AF93-5CCBD70D248C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537B7A-7510-410A-AA53-45D600DA02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4536CA-A6C4-4358-AF93-5CCBD70D248C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537B7A-7510-410A-AA53-45D600DA02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4536CA-A6C4-4358-AF93-5CCBD70D248C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537B7A-7510-410A-AA53-45D600DA02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4536CA-A6C4-4358-AF93-5CCBD70D248C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537B7A-7510-410A-AA53-45D600DA02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4536CA-A6C4-4358-AF93-5CCBD70D248C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537B7A-7510-410A-AA53-45D600DA02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94536CA-A6C4-4358-AF93-5CCBD70D248C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8537B7A-7510-410A-AA53-45D600DA0276}" type="slidenum">
              <a:rPr lang="zh-CN" altLang="en-US" smtClean="0"/>
            </a:fld>
            <a:endParaRPr lang="zh-CN" altLang="en-US"/>
          </a:p>
        </p:txBody>
      </p:sp>
      <p:sp>
        <p:nvSpPr>
          <p:cNvPr id="7" name="矩形 6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1.xml"/><Relationship Id="rId6" Type="http://schemas.openxmlformats.org/officeDocument/2006/relationships/slideLayout" Target="../slideLayouts/slideLayout7.xml"/><Relationship Id="rId5" Type="http://schemas.openxmlformats.org/officeDocument/2006/relationships/image" Target="../media/image3.png"/><Relationship Id="rId4" Type="http://schemas.openxmlformats.org/officeDocument/2006/relationships/image" Target="../media/image2.png"/><Relationship Id="rId3" Type="http://schemas.microsoft.com/office/2007/relationships/media" Target="../media/media1.mp3"/><Relationship Id="rId2" Type="http://schemas.openxmlformats.org/officeDocument/2006/relationships/audio" Target="../media/media1.mp3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9.xml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4" Type="http://schemas.openxmlformats.org/officeDocument/2006/relationships/notesSlide" Target="../notesSlides/notesSlide2.xml"/><Relationship Id="rId23" Type="http://schemas.openxmlformats.org/officeDocument/2006/relationships/slideLayout" Target="../slideLayouts/slideLayout7.xml"/><Relationship Id="rId22" Type="http://schemas.openxmlformats.org/officeDocument/2006/relationships/tags" Target="../tags/tag22.xml"/><Relationship Id="rId21" Type="http://schemas.openxmlformats.org/officeDocument/2006/relationships/tags" Target="../tags/tag21.xml"/><Relationship Id="rId20" Type="http://schemas.openxmlformats.org/officeDocument/2006/relationships/tags" Target="../tags/tag20.xml"/><Relationship Id="rId2" Type="http://schemas.openxmlformats.org/officeDocument/2006/relationships/tags" Target="../tags/tag2.xml"/><Relationship Id="rId19" Type="http://schemas.openxmlformats.org/officeDocument/2006/relationships/tags" Target="../tags/tag19.xml"/><Relationship Id="rId18" Type="http://schemas.openxmlformats.org/officeDocument/2006/relationships/tags" Target="../tags/tag18.xml"/><Relationship Id="rId17" Type="http://schemas.openxmlformats.org/officeDocument/2006/relationships/tags" Target="../tags/tag17.xml"/><Relationship Id="rId16" Type="http://schemas.openxmlformats.org/officeDocument/2006/relationships/tags" Target="../tags/tag16.xml"/><Relationship Id="rId15" Type="http://schemas.openxmlformats.org/officeDocument/2006/relationships/tags" Target="../tags/tag15.xml"/><Relationship Id="rId14" Type="http://schemas.openxmlformats.org/officeDocument/2006/relationships/tags" Target="../tags/tag14.xml"/><Relationship Id="rId13" Type="http://schemas.openxmlformats.org/officeDocument/2006/relationships/tags" Target="../tags/tag13.xml"/><Relationship Id="rId12" Type="http://schemas.openxmlformats.org/officeDocument/2006/relationships/tags" Target="../tags/tag12.xml"/><Relationship Id="rId11" Type="http://schemas.openxmlformats.org/officeDocument/2006/relationships/tags" Target="../tags/tag11.xml"/><Relationship Id="rId10" Type="http://schemas.openxmlformats.org/officeDocument/2006/relationships/tags" Target="../tags/tag10.xml"/><Relationship Id="rId1" Type="http://schemas.openxmlformats.org/officeDocument/2006/relationships/tags" Target="../tags/tag1.xml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.x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1" Type="http://schemas.openxmlformats.org/officeDocument/2006/relationships/image" Target="../media/image4.jpeg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4.x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1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7.xml"/><Relationship Id="rId8" Type="http://schemas.openxmlformats.org/officeDocument/2006/relationships/tags" Target="../tags/tag27.xml"/><Relationship Id="rId7" Type="http://schemas.openxmlformats.org/officeDocument/2006/relationships/tags" Target="../tags/tag26.xml"/><Relationship Id="rId6" Type="http://schemas.openxmlformats.org/officeDocument/2006/relationships/tags" Target="../tags/tag25.xml"/><Relationship Id="rId5" Type="http://schemas.openxmlformats.org/officeDocument/2006/relationships/tags" Target="../tags/tag24.xml"/><Relationship Id="rId4" Type="http://schemas.openxmlformats.org/officeDocument/2006/relationships/image" Target="../media/image10.png"/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0" Type="http://schemas.openxmlformats.org/officeDocument/2006/relationships/notesSlide" Target="../notesSlides/notesSlide5.xml"/><Relationship Id="rId1" Type="http://schemas.openxmlformats.org/officeDocument/2006/relationships/tags" Target="../tags/tag23.xml"/></Relationships>
</file>

<file path=ppt/slides/_rels/slide6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6.xml"/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tags" Target="../tags/tag28.xml"/></Relationships>
</file>

<file path=ppt/slides/_rels/slide7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7.xml"/><Relationship Id="rId5" Type="http://schemas.openxmlformats.org/officeDocument/2006/relationships/slideLayout" Target="../slideLayouts/slideLayout7.xml"/><Relationship Id="rId4" Type="http://schemas.openxmlformats.org/officeDocument/2006/relationships/tags" Target="../tags/tag31.xml"/><Relationship Id="rId3" Type="http://schemas.openxmlformats.org/officeDocument/2006/relationships/tags" Target="../tags/tag30.xml"/><Relationship Id="rId2" Type="http://schemas.openxmlformats.org/officeDocument/2006/relationships/tags" Target="../tags/tag29.xml"/><Relationship Id="rId1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image" Target="../media/image14.png"/><Relationship Id="rId8" Type="http://schemas.openxmlformats.org/officeDocument/2006/relationships/tags" Target="../tags/tag37.xml"/><Relationship Id="rId7" Type="http://schemas.openxmlformats.org/officeDocument/2006/relationships/tags" Target="../tags/tag36.xml"/><Relationship Id="rId6" Type="http://schemas.openxmlformats.org/officeDocument/2006/relationships/tags" Target="../tags/tag35.xml"/><Relationship Id="rId5" Type="http://schemas.openxmlformats.org/officeDocument/2006/relationships/tags" Target="../tags/tag34.xml"/><Relationship Id="rId4" Type="http://schemas.openxmlformats.org/officeDocument/2006/relationships/tags" Target="../tags/tag33.xml"/><Relationship Id="rId3" Type="http://schemas.openxmlformats.org/officeDocument/2006/relationships/tags" Target="../tags/tag32.xml"/><Relationship Id="rId2" Type="http://schemas.openxmlformats.org/officeDocument/2006/relationships/chart" Target="../charts/chart2.xml"/><Relationship Id="rId11" Type="http://schemas.openxmlformats.org/officeDocument/2006/relationships/notesSlide" Target="../notesSlides/notesSlide8.xml"/><Relationship Id="rId10" Type="http://schemas.openxmlformats.org/officeDocument/2006/relationships/slideLayout" Target="../slideLayouts/slideLayout7.xml"/><Relationship Id="rId1" Type="http://schemas.openxmlformats.org/officeDocument/2006/relationships/chart" Target="../charts/char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0.x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.jpeg"/><Relationship Id="rId1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/>
        </p:nvPicPr>
        <p:blipFill rotWithShape="1"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1604" b="46967"/>
          <a:stretch>
            <a:fillRect/>
          </a:stretch>
        </p:blipFill>
        <p:spPr>
          <a:xfrm>
            <a:off x="0" y="2176476"/>
            <a:ext cx="12209296" cy="2877923"/>
          </a:xfrm>
          <a:prstGeom prst="rect">
            <a:avLst/>
          </a:prstGeom>
        </p:spPr>
      </p:pic>
      <p:sp>
        <p:nvSpPr>
          <p:cNvPr id="8" name="矩形 7"/>
          <p:cNvSpPr/>
          <p:nvPr/>
        </p:nvSpPr>
        <p:spPr>
          <a:xfrm>
            <a:off x="0" y="2176477"/>
            <a:ext cx="12192000" cy="2877922"/>
          </a:xfrm>
          <a:prstGeom prst="rect">
            <a:avLst/>
          </a:prstGeom>
          <a:gradFill>
            <a:gsLst>
              <a:gs pos="0">
                <a:srgbClr val="014723"/>
              </a:gs>
              <a:gs pos="59000">
                <a:srgbClr val="014723">
                  <a:alpha val="60000"/>
                </a:srgbClr>
              </a:gs>
              <a:gs pos="100000">
                <a:srgbClr val="014723">
                  <a:alpha val="10000"/>
                </a:srgbClr>
              </a:gs>
            </a:gsLst>
            <a:lin ang="108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文本框 14"/>
          <p:cNvSpPr txBox="1"/>
          <p:nvPr/>
        </p:nvSpPr>
        <p:spPr>
          <a:xfrm>
            <a:off x="796925" y="2729230"/>
            <a:ext cx="10518140" cy="1938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6000" b="1" dirty="0">
                <a:solidFill>
                  <a:schemeClr val="bg1">
                    <a:lumMod val="9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面向临床手术辅助的机器人</a:t>
            </a:r>
            <a:endParaRPr lang="en-US" altLang="zh-CN" sz="6000" b="1" dirty="0">
              <a:solidFill>
                <a:schemeClr val="bg1">
                  <a:lumMod val="9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zh-CN" altLang="en-US" sz="6000" b="1" dirty="0">
                <a:solidFill>
                  <a:schemeClr val="bg1">
                    <a:lumMod val="9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关键技术研究</a:t>
            </a:r>
            <a:endParaRPr lang="zh-CN" altLang="en-US" sz="6000" b="1" dirty="0">
              <a:solidFill>
                <a:schemeClr val="bg1">
                  <a:lumMod val="9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TextBox 6"/>
          <p:cNvSpPr txBox="1"/>
          <p:nvPr/>
        </p:nvSpPr>
        <p:spPr>
          <a:xfrm>
            <a:off x="4419164" y="5273454"/>
            <a:ext cx="4031825" cy="400085"/>
          </a:xfrm>
          <a:prstGeom prst="rect">
            <a:avLst/>
          </a:prstGeom>
          <a:noFill/>
        </p:spPr>
        <p:txBody>
          <a:bodyPr wrap="none" lIns="91416" tIns="45708" rIns="91416" bIns="45708" rtlCol="0">
            <a:spAutoFit/>
          </a:bodyPr>
          <a:lstStyle>
            <a:defPPr>
              <a:defRPr lang="zh-CN"/>
            </a:defPPr>
            <a:lvl1pPr>
              <a:defRPr sz="2000">
                <a:solidFill>
                  <a:schemeClr val="accent2"/>
                </a:solidFill>
                <a:latin typeface="+mn-ea"/>
                <a:ea typeface="+mn-ea"/>
              </a:defRPr>
            </a:lvl1pPr>
          </a:lstStyle>
          <a:p>
            <a:pPr algn="ctr"/>
            <a:r>
              <a:rPr lang="zh-CN" altLang="en-US" b="1" dirty="0">
                <a:solidFill>
                  <a:srgbClr val="01472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小组成员</a:t>
            </a:r>
            <a:r>
              <a:rPr lang="zh-CN" altLang="en-US" dirty="0">
                <a:solidFill>
                  <a:srgbClr val="01472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：何翌宁、郭梦霏、董璐</a:t>
            </a:r>
            <a:endParaRPr lang="zh-CN" altLang="en-US" dirty="0">
              <a:solidFill>
                <a:srgbClr val="014723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TextBox 7"/>
          <p:cNvSpPr txBox="1"/>
          <p:nvPr/>
        </p:nvSpPr>
        <p:spPr>
          <a:xfrm>
            <a:off x="5108150" y="5975128"/>
            <a:ext cx="2492942" cy="400085"/>
          </a:xfrm>
          <a:prstGeom prst="rect">
            <a:avLst/>
          </a:prstGeom>
          <a:noFill/>
        </p:spPr>
        <p:txBody>
          <a:bodyPr wrap="none" lIns="91416" tIns="45708" rIns="91416" bIns="45708" rtlCol="0">
            <a:spAutoFit/>
          </a:bodyPr>
          <a:lstStyle/>
          <a:p>
            <a:pPr algn="ctr"/>
            <a:r>
              <a:rPr lang="zh-CN" altLang="en-US" sz="2000" b="1" dirty="0">
                <a:solidFill>
                  <a:srgbClr val="01472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指导老师</a:t>
            </a:r>
            <a:r>
              <a:rPr lang="zh-CN" altLang="en-US" sz="2000" dirty="0">
                <a:solidFill>
                  <a:srgbClr val="01472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：谭宁教授</a:t>
            </a:r>
            <a:endParaRPr lang="zh-CN" altLang="en-US" sz="2000" dirty="0">
              <a:solidFill>
                <a:srgbClr val="014723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Freeform 7"/>
          <p:cNvSpPr>
            <a:spLocks noChangeAspect="1" noEditPoints="1"/>
          </p:cNvSpPr>
          <p:nvPr/>
        </p:nvSpPr>
        <p:spPr bwMode="auto">
          <a:xfrm>
            <a:off x="3876500" y="5273454"/>
            <a:ext cx="462900" cy="466244"/>
          </a:xfrm>
          <a:custGeom>
            <a:avLst/>
            <a:gdLst>
              <a:gd name="T0" fmla="*/ 661 w 904"/>
              <a:gd name="T1" fmla="*/ 461 h 905"/>
              <a:gd name="T2" fmla="*/ 661 w 904"/>
              <a:gd name="T3" fmla="*/ 339 h 905"/>
              <a:gd name="T4" fmla="*/ 605 w 904"/>
              <a:gd name="T5" fmla="*/ 339 h 905"/>
              <a:gd name="T6" fmla="*/ 605 w 904"/>
              <a:gd name="T7" fmla="*/ 461 h 905"/>
              <a:gd name="T8" fmla="*/ 456 w 904"/>
              <a:gd name="T9" fmla="*/ 610 h 905"/>
              <a:gd name="T10" fmla="*/ 453 w 904"/>
              <a:gd name="T11" fmla="*/ 610 h 905"/>
              <a:gd name="T12" fmla="*/ 452 w 904"/>
              <a:gd name="T13" fmla="*/ 610 h 905"/>
              <a:gd name="T14" fmla="*/ 451 w 904"/>
              <a:gd name="T15" fmla="*/ 610 h 905"/>
              <a:gd name="T16" fmla="*/ 448 w 904"/>
              <a:gd name="T17" fmla="*/ 610 h 905"/>
              <a:gd name="T18" fmla="*/ 299 w 904"/>
              <a:gd name="T19" fmla="*/ 461 h 905"/>
              <a:gd name="T20" fmla="*/ 299 w 904"/>
              <a:gd name="T21" fmla="*/ 339 h 905"/>
              <a:gd name="T22" fmla="*/ 244 w 904"/>
              <a:gd name="T23" fmla="*/ 339 h 905"/>
              <a:gd name="T24" fmla="*/ 244 w 904"/>
              <a:gd name="T25" fmla="*/ 461 h 905"/>
              <a:gd name="T26" fmla="*/ 419 w 904"/>
              <a:gd name="T27" fmla="*/ 664 h 905"/>
              <a:gd name="T28" fmla="*/ 419 w 904"/>
              <a:gd name="T29" fmla="*/ 752 h 905"/>
              <a:gd name="T30" fmla="*/ 295 w 904"/>
              <a:gd name="T31" fmla="*/ 787 h 905"/>
              <a:gd name="T32" fmla="*/ 610 w 904"/>
              <a:gd name="T33" fmla="*/ 787 h 905"/>
              <a:gd name="T34" fmla="*/ 484 w 904"/>
              <a:gd name="T35" fmla="*/ 751 h 905"/>
              <a:gd name="T36" fmla="*/ 484 w 904"/>
              <a:gd name="T37" fmla="*/ 664 h 905"/>
              <a:gd name="T38" fmla="*/ 661 w 904"/>
              <a:gd name="T39" fmla="*/ 461 h 905"/>
              <a:gd name="T40" fmla="*/ 450 w 904"/>
              <a:gd name="T41" fmla="*/ 558 h 905"/>
              <a:gd name="T42" fmla="*/ 452 w 904"/>
              <a:gd name="T43" fmla="*/ 558 h 905"/>
              <a:gd name="T44" fmla="*/ 454 w 904"/>
              <a:gd name="T45" fmla="*/ 558 h 905"/>
              <a:gd name="T46" fmla="*/ 554 w 904"/>
              <a:gd name="T47" fmla="*/ 459 h 905"/>
              <a:gd name="T48" fmla="*/ 554 w 904"/>
              <a:gd name="T49" fmla="*/ 218 h 905"/>
              <a:gd name="T50" fmla="*/ 454 w 904"/>
              <a:gd name="T51" fmla="*/ 118 h 905"/>
              <a:gd name="T52" fmla="*/ 452 w 904"/>
              <a:gd name="T53" fmla="*/ 118 h 905"/>
              <a:gd name="T54" fmla="*/ 450 w 904"/>
              <a:gd name="T55" fmla="*/ 118 h 905"/>
              <a:gd name="T56" fmla="*/ 351 w 904"/>
              <a:gd name="T57" fmla="*/ 218 h 905"/>
              <a:gd name="T58" fmla="*/ 351 w 904"/>
              <a:gd name="T59" fmla="*/ 459 h 905"/>
              <a:gd name="T60" fmla="*/ 450 w 904"/>
              <a:gd name="T61" fmla="*/ 558 h 905"/>
              <a:gd name="T62" fmla="*/ 452 w 904"/>
              <a:gd name="T63" fmla="*/ 0 h 905"/>
              <a:gd name="T64" fmla="*/ 904 w 904"/>
              <a:gd name="T65" fmla="*/ 453 h 905"/>
              <a:gd name="T66" fmla="*/ 452 w 904"/>
              <a:gd name="T67" fmla="*/ 905 h 905"/>
              <a:gd name="T68" fmla="*/ 0 w 904"/>
              <a:gd name="T69" fmla="*/ 453 h 905"/>
              <a:gd name="T70" fmla="*/ 452 w 904"/>
              <a:gd name="T71" fmla="*/ 0 h 90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</a:cxnLst>
            <a:rect l="0" t="0" r="r" b="b"/>
            <a:pathLst>
              <a:path w="904" h="905">
                <a:moveTo>
                  <a:pt x="661" y="461"/>
                </a:moveTo>
                <a:lnTo>
                  <a:pt x="661" y="339"/>
                </a:lnTo>
                <a:cubicBezTo>
                  <a:pt x="661" y="304"/>
                  <a:pt x="605" y="304"/>
                  <a:pt x="605" y="339"/>
                </a:cubicBezTo>
                <a:lnTo>
                  <a:pt x="605" y="461"/>
                </a:lnTo>
                <a:cubicBezTo>
                  <a:pt x="605" y="543"/>
                  <a:pt x="538" y="610"/>
                  <a:pt x="456" y="610"/>
                </a:cubicBezTo>
                <a:cubicBezTo>
                  <a:pt x="455" y="610"/>
                  <a:pt x="454" y="610"/>
                  <a:pt x="453" y="610"/>
                </a:cubicBezTo>
                <a:lnTo>
                  <a:pt x="452" y="610"/>
                </a:lnTo>
                <a:lnTo>
                  <a:pt x="451" y="610"/>
                </a:lnTo>
                <a:cubicBezTo>
                  <a:pt x="450" y="610"/>
                  <a:pt x="449" y="610"/>
                  <a:pt x="448" y="610"/>
                </a:cubicBezTo>
                <a:cubicBezTo>
                  <a:pt x="366" y="610"/>
                  <a:pt x="299" y="543"/>
                  <a:pt x="299" y="461"/>
                </a:cubicBezTo>
                <a:lnTo>
                  <a:pt x="299" y="339"/>
                </a:lnTo>
                <a:cubicBezTo>
                  <a:pt x="299" y="304"/>
                  <a:pt x="244" y="304"/>
                  <a:pt x="244" y="339"/>
                </a:cubicBezTo>
                <a:cubicBezTo>
                  <a:pt x="244" y="355"/>
                  <a:pt x="244" y="461"/>
                  <a:pt x="244" y="461"/>
                </a:cubicBezTo>
                <a:cubicBezTo>
                  <a:pt x="244" y="564"/>
                  <a:pt x="320" y="650"/>
                  <a:pt x="419" y="664"/>
                </a:cubicBezTo>
                <a:lnTo>
                  <a:pt x="419" y="752"/>
                </a:lnTo>
                <a:lnTo>
                  <a:pt x="295" y="787"/>
                </a:lnTo>
                <a:lnTo>
                  <a:pt x="610" y="787"/>
                </a:lnTo>
                <a:lnTo>
                  <a:pt x="484" y="751"/>
                </a:lnTo>
                <a:lnTo>
                  <a:pt x="484" y="664"/>
                </a:lnTo>
                <a:cubicBezTo>
                  <a:pt x="584" y="650"/>
                  <a:pt x="661" y="564"/>
                  <a:pt x="661" y="461"/>
                </a:cubicBezTo>
                <a:close/>
                <a:moveTo>
                  <a:pt x="450" y="558"/>
                </a:moveTo>
                <a:cubicBezTo>
                  <a:pt x="451" y="558"/>
                  <a:pt x="451" y="558"/>
                  <a:pt x="452" y="558"/>
                </a:cubicBezTo>
                <a:cubicBezTo>
                  <a:pt x="453" y="558"/>
                  <a:pt x="453" y="558"/>
                  <a:pt x="454" y="558"/>
                </a:cubicBezTo>
                <a:cubicBezTo>
                  <a:pt x="509" y="558"/>
                  <a:pt x="554" y="514"/>
                  <a:pt x="554" y="459"/>
                </a:cubicBezTo>
                <a:lnTo>
                  <a:pt x="554" y="218"/>
                </a:lnTo>
                <a:cubicBezTo>
                  <a:pt x="554" y="163"/>
                  <a:pt x="509" y="118"/>
                  <a:pt x="454" y="118"/>
                </a:cubicBezTo>
                <a:cubicBezTo>
                  <a:pt x="453" y="118"/>
                  <a:pt x="453" y="118"/>
                  <a:pt x="452" y="118"/>
                </a:cubicBezTo>
                <a:cubicBezTo>
                  <a:pt x="452" y="118"/>
                  <a:pt x="451" y="118"/>
                  <a:pt x="450" y="118"/>
                </a:cubicBezTo>
                <a:cubicBezTo>
                  <a:pt x="395" y="118"/>
                  <a:pt x="351" y="163"/>
                  <a:pt x="351" y="218"/>
                </a:cubicBezTo>
                <a:lnTo>
                  <a:pt x="351" y="459"/>
                </a:lnTo>
                <a:cubicBezTo>
                  <a:pt x="351" y="514"/>
                  <a:pt x="395" y="558"/>
                  <a:pt x="450" y="558"/>
                </a:cubicBezTo>
                <a:close/>
                <a:moveTo>
                  <a:pt x="452" y="0"/>
                </a:moveTo>
                <a:cubicBezTo>
                  <a:pt x="702" y="0"/>
                  <a:pt x="904" y="203"/>
                  <a:pt x="904" y="453"/>
                </a:cubicBezTo>
                <a:cubicBezTo>
                  <a:pt x="904" y="702"/>
                  <a:pt x="702" y="905"/>
                  <a:pt x="452" y="905"/>
                </a:cubicBezTo>
                <a:cubicBezTo>
                  <a:pt x="202" y="905"/>
                  <a:pt x="0" y="702"/>
                  <a:pt x="0" y="453"/>
                </a:cubicBezTo>
                <a:cubicBezTo>
                  <a:pt x="0" y="203"/>
                  <a:pt x="202" y="0"/>
                  <a:pt x="452" y="0"/>
                </a:cubicBezTo>
                <a:close/>
              </a:path>
            </a:pathLst>
          </a:custGeom>
          <a:solidFill>
            <a:srgbClr val="014723"/>
          </a:solidFill>
          <a:ln>
            <a:noFill/>
          </a:ln>
        </p:spPr>
        <p:txBody>
          <a:bodyPr vert="horz" wrap="square" lIns="91416" tIns="45708" rIns="91416" bIns="45708" numCol="1" anchor="t" anchorCtr="0" compatLnSpc="1"/>
          <a:lstStyle/>
          <a:p>
            <a:endParaRPr lang="zh-CN" altLang="en-US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Freeform 8"/>
          <p:cNvSpPr>
            <a:spLocks noChangeAspect="1" noEditPoints="1"/>
          </p:cNvSpPr>
          <p:nvPr/>
        </p:nvSpPr>
        <p:spPr bwMode="auto">
          <a:xfrm>
            <a:off x="4544025" y="5942048"/>
            <a:ext cx="464288" cy="466246"/>
          </a:xfrm>
          <a:custGeom>
            <a:avLst/>
            <a:gdLst>
              <a:gd name="T0" fmla="*/ 422 w 422"/>
              <a:gd name="T1" fmla="*/ 211 h 422"/>
              <a:gd name="T2" fmla="*/ 0 w 422"/>
              <a:gd name="T3" fmla="*/ 211 h 422"/>
              <a:gd name="T4" fmla="*/ 340 w 422"/>
              <a:gd name="T5" fmla="*/ 117 h 422"/>
              <a:gd name="T6" fmla="*/ 345 w 422"/>
              <a:gd name="T7" fmla="*/ 123 h 422"/>
              <a:gd name="T8" fmla="*/ 344 w 422"/>
              <a:gd name="T9" fmla="*/ 226 h 422"/>
              <a:gd name="T10" fmla="*/ 340 w 422"/>
              <a:gd name="T11" fmla="*/ 227 h 422"/>
              <a:gd name="T12" fmla="*/ 217 w 422"/>
              <a:gd name="T13" fmla="*/ 226 h 422"/>
              <a:gd name="T14" fmla="*/ 215 w 422"/>
              <a:gd name="T15" fmla="*/ 222 h 422"/>
              <a:gd name="T16" fmla="*/ 286 w 422"/>
              <a:gd name="T17" fmla="*/ 164 h 422"/>
              <a:gd name="T18" fmla="*/ 215 w 422"/>
              <a:gd name="T19" fmla="*/ 171 h 422"/>
              <a:gd name="T20" fmla="*/ 217 w 422"/>
              <a:gd name="T21" fmla="*/ 119 h 422"/>
              <a:gd name="T22" fmla="*/ 220 w 422"/>
              <a:gd name="T23" fmla="*/ 117 h 422"/>
              <a:gd name="T24" fmla="*/ 220 w 422"/>
              <a:gd name="T25" fmla="*/ 96 h 422"/>
              <a:gd name="T26" fmla="*/ 202 w 422"/>
              <a:gd name="T27" fmla="*/ 104 h 422"/>
              <a:gd name="T28" fmla="*/ 194 w 422"/>
              <a:gd name="T29" fmla="*/ 174 h 422"/>
              <a:gd name="T30" fmla="*/ 186 w 422"/>
              <a:gd name="T31" fmla="*/ 166 h 422"/>
              <a:gd name="T32" fmla="*/ 137 w 422"/>
              <a:gd name="T33" fmla="*/ 151 h 422"/>
              <a:gd name="T34" fmla="*/ 54 w 422"/>
              <a:gd name="T35" fmla="*/ 173 h 422"/>
              <a:gd name="T36" fmla="*/ 77 w 422"/>
              <a:gd name="T37" fmla="*/ 243 h 422"/>
              <a:gd name="T38" fmla="*/ 81 w 422"/>
              <a:gd name="T39" fmla="*/ 192 h 422"/>
              <a:gd name="T40" fmla="*/ 81 w 422"/>
              <a:gd name="T41" fmla="*/ 256 h 422"/>
              <a:gd name="T42" fmla="*/ 106 w 422"/>
              <a:gd name="T43" fmla="*/ 350 h 422"/>
              <a:gd name="T44" fmla="*/ 112 w 422"/>
              <a:gd name="T45" fmla="*/ 272 h 422"/>
              <a:gd name="T46" fmla="*/ 137 w 422"/>
              <a:gd name="T47" fmla="*/ 350 h 422"/>
              <a:gd name="T48" fmla="*/ 137 w 422"/>
              <a:gd name="T49" fmla="*/ 256 h 422"/>
              <a:gd name="T50" fmla="*/ 137 w 422"/>
              <a:gd name="T51" fmla="*/ 192 h 422"/>
              <a:gd name="T52" fmla="*/ 162 w 422"/>
              <a:gd name="T53" fmla="*/ 192 h 422"/>
              <a:gd name="T54" fmla="*/ 186 w 422"/>
              <a:gd name="T55" fmla="*/ 185 h 422"/>
              <a:gd name="T56" fmla="*/ 194 w 422"/>
              <a:gd name="T57" fmla="*/ 222 h 422"/>
              <a:gd name="T58" fmla="*/ 202 w 422"/>
              <a:gd name="T59" fmla="*/ 240 h 422"/>
              <a:gd name="T60" fmla="*/ 220 w 422"/>
              <a:gd name="T61" fmla="*/ 248 h 422"/>
              <a:gd name="T62" fmla="*/ 359 w 422"/>
              <a:gd name="T63" fmla="*/ 240 h 422"/>
              <a:gd name="T64" fmla="*/ 366 w 422"/>
              <a:gd name="T65" fmla="*/ 222 h 422"/>
              <a:gd name="T66" fmla="*/ 359 w 422"/>
              <a:gd name="T67" fmla="*/ 104 h 422"/>
              <a:gd name="T68" fmla="*/ 220 w 422"/>
              <a:gd name="T69" fmla="*/ 96 h 422"/>
              <a:gd name="T70" fmla="*/ 344 w 422"/>
              <a:gd name="T71" fmla="*/ 277 h 422"/>
              <a:gd name="T72" fmla="*/ 346 w 422"/>
              <a:gd name="T73" fmla="*/ 351 h 422"/>
              <a:gd name="T74" fmla="*/ 298 w 422"/>
              <a:gd name="T75" fmla="*/ 277 h 422"/>
              <a:gd name="T76" fmla="*/ 250 w 422"/>
              <a:gd name="T77" fmla="*/ 351 h 422"/>
              <a:gd name="T78" fmla="*/ 244 w 422"/>
              <a:gd name="T79" fmla="*/ 277 h 422"/>
              <a:gd name="T80" fmla="*/ 221 w 422"/>
              <a:gd name="T81" fmla="*/ 254 h 422"/>
              <a:gd name="T82" fmla="*/ 109 w 422"/>
              <a:gd name="T83" fmla="*/ 75 h 422"/>
              <a:gd name="T84" fmla="*/ 109 w 422"/>
              <a:gd name="T85" fmla="*/ 146 h 422"/>
              <a:gd name="T86" fmla="*/ 109 w 422"/>
              <a:gd name="T87" fmla="*/ 75 h 42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</a:cxnLst>
            <a:rect l="0" t="0" r="r" b="b"/>
            <a:pathLst>
              <a:path w="422" h="422">
                <a:moveTo>
                  <a:pt x="211" y="0"/>
                </a:moveTo>
                <a:cubicBezTo>
                  <a:pt x="327" y="0"/>
                  <a:pt x="422" y="94"/>
                  <a:pt x="422" y="211"/>
                </a:cubicBezTo>
                <a:cubicBezTo>
                  <a:pt x="422" y="327"/>
                  <a:pt x="327" y="422"/>
                  <a:pt x="211" y="422"/>
                </a:cubicBezTo>
                <a:cubicBezTo>
                  <a:pt x="94" y="422"/>
                  <a:pt x="0" y="327"/>
                  <a:pt x="0" y="211"/>
                </a:cubicBezTo>
                <a:cubicBezTo>
                  <a:pt x="0" y="94"/>
                  <a:pt x="94" y="0"/>
                  <a:pt x="211" y="0"/>
                </a:cubicBezTo>
                <a:close/>
                <a:moveTo>
                  <a:pt x="340" y="117"/>
                </a:moveTo>
                <a:cubicBezTo>
                  <a:pt x="341" y="117"/>
                  <a:pt x="343" y="118"/>
                  <a:pt x="344" y="119"/>
                </a:cubicBezTo>
                <a:cubicBezTo>
                  <a:pt x="345" y="120"/>
                  <a:pt x="345" y="121"/>
                  <a:pt x="345" y="123"/>
                </a:cubicBezTo>
                <a:lnTo>
                  <a:pt x="345" y="222"/>
                </a:lnTo>
                <a:cubicBezTo>
                  <a:pt x="345" y="223"/>
                  <a:pt x="345" y="225"/>
                  <a:pt x="344" y="226"/>
                </a:cubicBezTo>
                <a:lnTo>
                  <a:pt x="344" y="226"/>
                </a:lnTo>
                <a:cubicBezTo>
                  <a:pt x="343" y="227"/>
                  <a:pt x="341" y="227"/>
                  <a:pt x="340" y="227"/>
                </a:cubicBezTo>
                <a:lnTo>
                  <a:pt x="220" y="227"/>
                </a:lnTo>
                <a:cubicBezTo>
                  <a:pt x="219" y="227"/>
                  <a:pt x="218" y="227"/>
                  <a:pt x="217" y="226"/>
                </a:cubicBezTo>
                <a:lnTo>
                  <a:pt x="217" y="226"/>
                </a:lnTo>
                <a:cubicBezTo>
                  <a:pt x="216" y="225"/>
                  <a:pt x="215" y="223"/>
                  <a:pt x="215" y="222"/>
                </a:cubicBezTo>
                <a:lnTo>
                  <a:pt x="215" y="179"/>
                </a:lnTo>
                <a:lnTo>
                  <a:pt x="286" y="164"/>
                </a:lnTo>
                <a:lnTo>
                  <a:pt x="286" y="162"/>
                </a:lnTo>
                <a:lnTo>
                  <a:pt x="215" y="171"/>
                </a:lnTo>
                <a:lnTo>
                  <a:pt x="215" y="123"/>
                </a:lnTo>
                <a:cubicBezTo>
                  <a:pt x="215" y="121"/>
                  <a:pt x="216" y="120"/>
                  <a:pt x="217" y="119"/>
                </a:cubicBezTo>
                <a:lnTo>
                  <a:pt x="217" y="119"/>
                </a:lnTo>
                <a:cubicBezTo>
                  <a:pt x="218" y="118"/>
                  <a:pt x="219" y="117"/>
                  <a:pt x="220" y="117"/>
                </a:cubicBezTo>
                <a:lnTo>
                  <a:pt x="340" y="117"/>
                </a:lnTo>
                <a:close/>
                <a:moveTo>
                  <a:pt x="220" y="96"/>
                </a:moveTo>
                <a:cubicBezTo>
                  <a:pt x="213" y="96"/>
                  <a:pt x="206" y="99"/>
                  <a:pt x="202" y="104"/>
                </a:cubicBezTo>
                <a:lnTo>
                  <a:pt x="202" y="104"/>
                </a:lnTo>
                <a:cubicBezTo>
                  <a:pt x="197" y="109"/>
                  <a:pt x="194" y="115"/>
                  <a:pt x="194" y="123"/>
                </a:cubicBezTo>
                <a:lnTo>
                  <a:pt x="194" y="174"/>
                </a:lnTo>
                <a:lnTo>
                  <a:pt x="186" y="175"/>
                </a:lnTo>
                <a:lnTo>
                  <a:pt x="186" y="166"/>
                </a:lnTo>
                <a:lnTo>
                  <a:pt x="162" y="166"/>
                </a:lnTo>
                <a:lnTo>
                  <a:pt x="137" y="151"/>
                </a:lnTo>
                <a:lnTo>
                  <a:pt x="77" y="151"/>
                </a:lnTo>
                <a:cubicBezTo>
                  <a:pt x="64" y="151"/>
                  <a:pt x="54" y="161"/>
                  <a:pt x="54" y="173"/>
                </a:cubicBezTo>
                <a:lnTo>
                  <a:pt x="54" y="243"/>
                </a:lnTo>
                <a:lnTo>
                  <a:pt x="77" y="243"/>
                </a:lnTo>
                <a:lnTo>
                  <a:pt x="77" y="192"/>
                </a:lnTo>
                <a:lnTo>
                  <a:pt x="81" y="192"/>
                </a:lnTo>
                <a:lnTo>
                  <a:pt x="81" y="243"/>
                </a:lnTo>
                <a:lnTo>
                  <a:pt x="81" y="256"/>
                </a:lnTo>
                <a:lnTo>
                  <a:pt x="81" y="350"/>
                </a:lnTo>
                <a:lnTo>
                  <a:pt x="106" y="350"/>
                </a:lnTo>
                <a:lnTo>
                  <a:pt x="106" y="272"/>
                </a:lnTo>
                <a:lnTo>
                  <a:pt x="112" y="272"/>
                </a:lnTo>
                <a:lnTo>
                  <a:pt x="112" y="350"/>
                </a:lnTo>
                <a:lnTo>
                  <a:pt x="137" y="350"/>
                </a:lnTo>
                <a:lnTo>
                  <a:pt x="137" y="336"/>
                </a:lnTo>
                <a:lnTo>
                  <a:pt x="137" y="256"/>
                </a:lnTo>
                <a:lnTo>
                  <a:pt x="137" y="243"/>
                </a:lnTo>
                <a:lnTo>
                  <a:pt x="137" y="192"/>
                </a:lnTo>
                <a:lnTo>
                  <a:pt x="137" y="177"/>
                </a:lnTo>
                <a:lnTo>
                  <a:pt x="162" y="192"/>
                </a:lnTo>
                <a:lnTo>
                  <a:pt x="186" y="192"/>
                </a:lnTo>
                <a:lnTo>
                  <a:pt x="186" y="185"/>
                </a:lnTo>
                <a:lnTo>
                  <a:pt x="194" y="184"/>
                </a:lnTo>
                <a:lnTo>
                  <a:pt x="194" y="222"/>
                </a:lnTo>
                <a:cubicBezTo>
                  <a:pt x="194" y="229"/>
                  <a:pt x="197" y="236"/>
                  <a:pt x="202" y="240"/>
                </a:cubicBezTo>
                <a:lnTo>
                  <a:pt x="202" y="240"/>
                </a:lnTo>
                <a:lnTo>
                  <a:pt x="202" y="241"/>
                </a:lnTo>
                <a:cubicBezTo>
                  <a:pt x="207" y="245"/>
                  <a:pt x="213" y="248"/>
                  <a:pt x="220" y="248"/>
                </a:cubicBezTo>
                <a:lnTo>
                  <a:pt x="340" y="248"/>
                </a:lnTo>
                <a:cubicBezTo>
                  <a:pt x="347" y="248"/>
                  <a:pt x="354" y="245"/>
                  <a:pt x="359" y="240"/>
                </a:cubicBezTo>
                <a:lnTo>
                  <a:pt x="359" y="241"/>
                </a:lnTo>
                <a:cubicBezTo>
                  <a:pt x="363" y="236"/>
                  <a:pt x="366" y="229"/>
                  <a:pt x="366" y="222"/>
                </a:cubicBezTo>
                <a:lnTo>
                  <a:pt x="366" y="123"/>
                </a:lnTo>
                <a:cubicBezTo>
                  <a:pt x="366" y="115"/>
                  <a:pt x="363" y="109"/>
                  <a:pt x="359" y="104"/>
                </a:cubicBezTo>
                <a:cubicBezTo>
                  <a:pt x="354" y="99"/>
                  <a:pt x="347" y="96"/>
                  <a:pt x="340" y="96"/>
                </a:cubicBezTo>
                <a:lnTo>
                  <a:pt x="220" y="96"/>
                </a:lnTo>
                <a:close/>
                <a:moveTo>
                  <a:pt x="344" y="254"/>
                </a:moveTo>
                <a:lnTo>
                  <a:pt x="344" y="277"/>
                </a:lnTo>
                <a:lnTo>
                  <a:pt x="325" y="277"/>
                </a:lnTo>
                <a:lnTo>
                  <a:pt x="346" y="351"/>
                </a:lnTo>
                <a:lnTo>
                  <a:pt x="319" y="351"/>
                </a:lnTo>
                <a:lnTo>
                  <a:pt x="298" y="277"/>
                </a:lnTo>
                <a:lnTo>
                  <a:pt x="271" y="277"/>
                </a:lnTo>
                <a:lnTo>
                  <a:pt x="250" y="351"/>
                </a:lnTo>
                <a:lnTo>
                  <a:pt x="223" y="351"/>
                </a:lnTo>
                <a:lnTo>
                  <a:pt x="244" y="277"/>
                </a:lnTo>
                <a:lnTo>
                  <a:pt x="221" y="277"/>
                </a:lnTo>
                <a:lnTo>
                  <a:pt x="221" y="254"/>
                </a:lnTo>
                <a:lnTo>
                  <a:pt x="344" y="254"/>
                </a:lnTo>
                <a:close/>
                <a:moveTo>
                  <a:pt x="109" y="75"/>
                </a:moveTo>
                <a:cubicBezTo>
                  <a:pt x="129" y="75"/>
                  <a:pt x="145" y="91"/>
                  <a:pt x="145" y="111"/>
                </a:cubicBezTo>
                <a:cubicBezTo>
                  <a:pt x="145" y="130"/>
                  <a:pt x="129" y="146"/>
                  <a:pt x="109" y="146"/>
                </a:cubicBezTo>
                <a:cubicBezTo>
                  <a:pt x="90" y="146"/>
                  <a:pt x="74" y="130"/>
                  <a:pt x="74" y="111"/>
                </a:cubicBezTo>
                <a:cubicBezTo>
                  <a:pt x="74" y="91"/>
                  <a:pt x="90" y="75"/>
                  <a:pt x="109" y="75"/>
                </a:cubicBezTo>
                <a:close/>
              </a:path>
            </a:pathLst>
          </a:custGeom>
          <a:solidFill>
            <a:srgbClr val="014723"/>
          </a:solidFill>
          <a:ln>
            <a:noFill/>
          </a:ln>
        </p:spPr>
        <p:txBody>
          <a:bodyPr vert="horz" wrap="square" lIns="91416" tIns="45708" rIns="91416" bIns="45708" numCol="1" anchor="t" anchorCtr="0" compatLnSpc="1"/>
          <a:lstStyle/>
          <a:p>
            <a:endParaRPr lang="zh-CN" altLang="en-US" sz="280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4" name="Florian Bur - The Way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4" cstate="print"/>
          <a:stretch>
            <a:fillRect/>
          </a:stretch>
        </p:blipFill>
        <p:spPr>
          <a:xfrm>
            <a:off x="-609600" y="6311900"/>
            <a:ext cx="406400" cy="406400"/>
          </a:xfrm>
          <a:prstGeom prst="rect">
            <a:avLst/>
          </a:prstGeom>
        </p:spPr>
      </p:pic>
      <p:pic>
        <p:nvPicPr>
          <p:cNvPr id="19" name="图片 18"/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1200" r="2284" b="11992"/>
          <a:stretch>
            <a:fillRect/>
          </a:stretch>
        </p:blipFill>
        <p:spPr>
          <a:xfrm>
            <a:off x="4339400" y="923192"/>
            <a:ext cx="3433000" cy="1072662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audio>
              <p:cMediaNode vol="100000" numSld="100">
                <p:cTn id="2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  <p:bldLst>
      <p:bldP spid="8" grpId="0" animBg="1"/>
      <p:bldP spid="15" grpId="0"/>
      <p:bldP spid="13" grpId="0"/>
      <p:bldP spid="14" grpId="0"/>
      <p:bldP spid="11" grpId="0" bldLvl="0" animBg="1"/>
      <p:bldP spid="12" grpId="0" bldLvl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矩形 4"/>
          <p:cNvSpPr/>
          <p:nvPr/>
        </p:nvSpPr>
        <p:spPr>
          <a:xfrm>
            <a:off x="0" y="0"/>
            <a:ext cx="12192000" cy="792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228600" dist="50800" dir="5400000" algn="t" rotWithShape="0">
              <a:prstClr val="black">
                <a:alpha val="29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80"/>
          </a:p>
        </p:txBody>
      </p:sp>
      <p:sp>
        <p:nvSpPr>
          <p:cNvPr id="2" name="文本框 1"/>
          <p:cNvSpPr txBox="1"/>
          <p:nvPr/>
        </p:nvSpPr>
        <p:spPr>
          <a:xfrm>
            <a:off x="370205" y="126365"/>
            <a:ext cx="281305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研究背景</a:t>
            </a:r>
            <a:endParaRPr lang="zh-CN" altLang="en-US" sz="2800" b="1" dirty="0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3" name="组合 2"/>
          <p:cNvGrpSpPr/>
          <p:nvPr>
            <p:custDataLst>
              <p:tags r:id="rId1"/>
            </p:custDataLst>
          </p:nvPr>
        </p:nvGrpSpPr>
        <p:grpSpPr>
          <a:xfrm>
            <a:off x="1543050" y="2670811"/>
            <a:ext cx="8920480" cy="2197735"/>
            <a:chOff x="2366" y="4964"/>
            <a:chExt cx="8430" cy="3098"/>
          </a:xfrm>
        </p:grpSpPr>
        <p:grpSp>
          <p:nvGrpSpPr>
            <p:cNvPr id="32" name="组合 20"/>
            <p:cNvGrpSpPr/>
            <p:nvPr>
              <p:custDataLst>
                <p:tags r:id="rId2"/>
              </p:custDataLst>
            </p:nvPr>
          </p:nvGrpSpPr>
          <p:grpSpPr bwMode="auto">
            <a:xfrm>
              <a:off x="7580" y="4964"/>
              <a:ext cx="3216" cy="3098"/>
              <a:chOff x="0" y="0"/>
              <a:chExt cx="1671177" cy="1609411"/>
            </a:xfrm>
            <a:solidFill>
              <a:schemeClr val="accent1"/>
            </a:solidFill>
            <a:effectLst/>
          </p:grpSpPr>
          <p:sp>
            <p:nvSpPr>
              <p:cNvPr id="36" name="右箭头 55"/>
              <p:cNvSpPr/>
              <p:nvPr>
                <p:custDataLst>
                  <p:tags r:id="rId3"/>
                </p:custDataLst>
              </p:nvPr>
            </p:nvSpPr>
            <p:spPr bwMode="auto">
              <a:xfrm>
                <a:off x="0" y="0"/>
                <a:ext cx="1671177" cy="1609411"/>
              </a:xfrm>
              <a:custGeom>
                <a:avLst/>
                <a:gdLst>
                  <a:gd name="T0" fmla="*/ 0 w 1671177"/>
                  <a:gd name="T1" fmla="*/ 354510 h 1609411"/>
                  <a:gd name="T2" fmla="*/ 556334 w 1671177"/>
                  <a:gd name="T3" fmla="*/ 353057 h 1609411"/>
                  <a:gd name="T4" fmla="*/ 850996 w 1671177"/>
                  <a:gd name="T5" fmla="*/ 94099 h 1609411"/>
                  <a:gd name="T6" fmla="*/ 1004876 w 1671177"/>
                  <a:gd name="T7" fmla="*/ 34278 h 1609411"/>
                  <a:gd name="T8" fmla="*/ 1577267 w 1671177"/>
                  <a:gd name="T9" fmla="*/ 619386 h 1609411"/>
                  <a:gd name="T10" fmla="*/ 1589104 w 1671177"/>
                  <a:gd name="T11" fmla="*/ 982488 h 1609411"/>
                  <a:gd name="T12" fmla="*/ 1013753 w 1671177"/>
                  <a:gd name="T13" fmla="*/ 1548957 h 1609411"/>
                  <a:gd name="T14" fmla="*/ 853956 w 1671177"/>
                  <a:gd name="T15" fmla="*/ 1495056 h 1609411"/>
                  <a:gd name="T16" fmla="*/ 582967 w 1671177"/>
                  <a:gd name="T17" fmla="*/ 1267456 h 1609411"/>
                  <a:gd name="T18" fmla="*/ 0 w 1671177"/>
                  <a:gd name="T19" fmla="*/ 1267196 h 1609411"/>
                  <a:gd name="T20" fmla="*/ 266330 w 1671177"/>
                  <a:gd name="T21" fmla="*/ 989289 h 1609411"/>
                  <a:gd name="T22" fmla="*/ 287045 w 1671177"/>
                  <a:gd name="T23" fmla="*/ 646020 h 1609411"/>
                  <a:gd name="T24" fmla="*/ 0 w 1671177"/>
                  <a:gd name="T25" fmla="*/ 354510 h 1609411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</a:gdLst>
                <a:ahLst/>
                <a:cxnLst>
                  <a:cxn ang="T26">
                    <a:pos x="T0" y="T1"/>
                  </a:cxn>
                  <a:cxn ang="T27">
                    <a:pos x="T2" y="T3"/>
                  </a:cxn>
                  <a:cxn ang="T28">
                    <a:pos x="T4" y="T5"/>
                  </a:cxn>
                  <a:cxn ang="T29">
                    <a:pos x="T6" y="T7"/>
                  </a:cxn>
                  <a:cxn ang="T30">
                    <a:pos x="T8" y="T9"/>
                  </a:cxn>
                  <a:cxn ang="T31">
                    <a:pos x="T10" y="T11"/>
                  </a:cxn>
                  <a:cxn ang="T32">
                    <a:pos x="T12" y="T13"/>
                  </a:cxn>
                  <a:cxn ang="T33">
                    <a:pos x="T14" y="T15"/>
                  </a:cxn>
                  <a:cxn ang="T34">
                    <a:pos x="T16" y="T17"/>
                  </a:cxn>
                  <a:cxn ang="T35">
                    <a:pos x="T18" y="T19"/>
                  </a:cxn>
                  <a:cxn ang="T36">
                    <a:pos x="T20" y="T21"/>
                  </a:cxn>
                  <a:cxn ang="T37">
                    <a:pos x="T22" y="T23"/>
                  </a:cxn>
                  <a:cxn ang="T38">
                    <a:pos x="T24" y="T25"/>
                  </a:cxn>
                </a:cxnLst>
                <a:rect l="0" t="0" r="r" b="b"/>
                <a:pathLst>
                  <a:path w="1671177" h="1609411">
                    <a:moveTo>
                      <a:pt x="0" y="354510"/>
                    </a:moveTo>
                    <a:lnTo>
                      <a:pt x="556334" y="353057"/>
                    </a:lnTo>
                    <a:cubicBezTo>
                      <a:pt x="746291" y="355515"/>
                      <a:pt x="856347" y="257358"/>
                      <a:pt x="850996" y="94099"/>
                    </a:cubicBezTo>
                    <a:cubicBezTo>
                      <a:pt x="849023" y="-2780"/>
                      <a:pt x="929910" y="-28640"/>
                      <a:pt x="1004876" y="34278"/>
                    </a:cubicBezTo>
                    <a:lnTo>
                      <a:pt x="1577267" y="619386"/>
                    </a:lnTo>
                    <a:cubicBezTo>
                      <a:pt x="1720296" y="767053"/>
                      <a:pt x="1679854" y="873291"/>
                      <a:pt x="1589104" y="982488"/>
                    </a:cubicBezTo>
                    <a:lnTo>
                      <a:pt x="1013753" y="1548957"/>
                    </a:lnTo>
                    <a:cubicBezTo>
                      <a:pt x="927935" y="1643440"/>
                      <a:pt x="868752" y="1628432"/>
                      <a:pt x="853956" y="1495056"/>
                    </a:cubicBezTo>
                    <a:cubicBezTo>
                      <a:pt x="849443" y="1377760"/>
                      <a:pt x="794625" y="1269343"/>
                      <a:pt x="582967" y="1267456"/>
                    </a:cubicBezTo>
                    <a:lnTo>
                      <a:pt x="0" y="1267196"/>
                    </a:lnTo>
                    <a:lnTo>
                      <a:pt x="266330" y="989289"/>
                    </a:lnTo>
                    <a:cubicBezTo>
                      <a:pt x="347215" y="886703"/>
                      <a:pt x="398509" y="775239"/>
                      <a:pt x="287045" y="646020"/>
                    </a:cubicBezTo>
                    <a:lnTo>
                      <a:pt x="0" y="35451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endParaRPr lang="zh-CN" altLang="en-US" sz="2420"/>
              </a:p>
            </p:txBody>
          </p:sp>
          <p:sp>
            <p:nvSpPr>
              <p:cNvPr id="37" name="TextBox 22"/>
              <p:cNvSpPr txBox="1">
                <a:spLocks noChangeArrowheads="1"/>
              </p:cNvSpPr>
              <p:nvPr>
                <p:custDataLst>
                  <p:tags r:id="rId4"/>
                </p:custDataLst>
              </p:nvPr>
            </p:nvSpPr>
            <p:spPr bwMode="auto">
              <a:xfrm>
                <a:off x="494813" y="551919"/>
                <a:ext cx="989626" cy="453026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Calibri" panose="020F050202020403020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Calibri" panose="020F050202020403020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Calibri" panose="020F050202020403020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Calibri" panose="020F050202020403020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Calibri" panose="020F050202020403020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Calibri" panose="020F050202020403020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Calibri" panose="020F050202020403020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Calibri" panose="020F050202020403020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Calibri" panose="020F050202020403020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r>
                  <a:rPr lang="zh-CN" altLang="en-US" sz="3420" dirty="0">
                    <a:solidFill>
                      <a:srgbClr val="FFFFFF"/>
                    </a:solidFill>
                    <a:latin typeface="Impact" panose="020B0806030902050204" pitchFamily="34" charset="0"/>
                  </a:rPr>
                  <a:t>应用价值</a:t>
                </a:r>
                <a:endParaRPr lang="zh-CN" altLang="en-US" sz="3420" dirty="0">
                  <a:solidFill>
                    <a:srgbClr val="FFFFFF"/>
                  </a:solidFill>
                  <a:latin typeface="Impact" panose="020B0806030902050204" pitchFamily="34" charset="0"/>
                </a:endParaRPr>
              </a:p>
            </p:txBody>
          </p:sp>
        </p:grpSp>
        <p:grpSp>
          <p:nvGrpSpPr>
            <p:cNvPr id="38" name="组合 25"/>
            <p:cNvGrpSpPr/>
            <p:nvPr>
              <p:custDataLst>
                <p:tags r:id="rId5"/>
              </p:custDataLst>
            </p:nvPr>
          </p:nvGrpSpPr>
          <p:grpSpPr bwMode="auto">
            <a:xfrm>
              <a:off x="4974" y="4964"/>
              <a:ext cx="3216" cy="3098"/>
              <a:chOff x="0" y="0"/>
              <a:chExt cx="1671177" cy="1609411"/>
            </a:xfrm>
            <a:solidFill>
              <a:schemeClr val="accent2"/>
            </a:solidFill>
          </p:grpSpPr>
          <p:sp>
            <p:nvSpPr>
              <p:cNvPr id="39" name="右箭头 55"/>
              <p:cNvSpPr/>
              <p:nvPr>
                <p:custDataLst>
                  <p:tags r:id="rId6"/>
                </p:custDataLst>
              </p:nvPr>
            </p:nvSpPr>
            <p:spPr bwMode="auto">
              <a:xfrm>
                <a:off x="0" y="0"/>
                <a:ext cx="1671177" cy="1609411"/>
              </a:xfrm>
              <a:custGeom>
                <a:avLst/>
                <a:gdLst>
                  <a:gd name="T0" fmla="*/ 0 w 1671177"/>
                  <a:gd name="T1" fmla="*/ 354510 h 1609411"/>
                  <a:gd name="T2" fmla="*/ 556334 w 1671177"/>
                  <a:gd name="T3" fmla="*/ 353057 h 1609411"/>
                  <a:gd name="T4" fmla="*/ 850996 w 1671177"/>
                  <a:gd name="T5" fmla="*/ 94099 h 1609411"/>
                  <a:gd name="T6" fmla="*/ 1004876 w 1671177"/>
                  <a:gd name="T7" fmla="*/ 34278 h 1609411"/>
                  <a:gd name="T8" fmla="*/ 1577267 w 1671177"/>
                  <a:gd name="T9" fmla="*/ 619386 h 1609411"/>
                  <a:gd name="T10" fmla="*/ 1589104 w 1671177"/>
                  <a:gd name="T11" fmla="*/ 982488 h 1609411"/>
                  <a:gd name="T12" fmla="*/ 1013753 w 1671177"/>
                  <a:gd name="T13" fmla="*/ 1548957 h 1609411"/>
                  <a:gd name="T14" fmla="*/ 853956 w 1671177"/>
                  <a:gd name="T15" fmla="*/ 1495056 h 1609411"/>
                  <a:gd name="T16" fmla="*/ 582967 w 1671177"/>
                  <a:gd name="T17" fmla="*/ 1267456 h 1609411"/>
                  <a:gd name="T18" fmla="*/ 0 w 1671177"/>
                  <a:gd name="T19" fmla="*/ 1267196 h 1609411"/>
                  <a:gd name="T20" fmla="*/ 266330 w 1671177"/>
                  <a:gd name="T21" fmla="*/ 989289 h 1609411"/>
                  <a:gd name="T22" fmla="*/ 287045 w 1671177"/>
                  <a:gd name="T23" fmla="*/ 646020 h 1609411"/>
                  <a:gd name="T24" fmla="*/ 0 w 1671177"/>
                  <a:gd name="T25" fmla="*/ 354510 h 1609411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</a:gdLst>
                <a:ahLst/>
                <a:cxnLst>
                  <a:cxn ang="T26">
                    <a:pos x="T0" y="T1"/>
                  </a:cxn>
                  <a:cxn ang="T27">
                    <a:pos x="T2" y="T3"/>
                  </a:cxn>
                  <a:cxn ang="T28">
                    <a:pos x="T4" y="T5"/>
                  </a:cxn>
                  <a:cxn ang="T29">
                    <a:pos x="T6" y="T7"/>
                  </a:cxn>
                  <a:cxn ang="T30">
                    <a:pos x="T8" y="T9"/>
                  </a:cxn>
                  <a:cxn ang="T31">
                    <a:pos x="T10" y="T11"/>
                  </a:cxn>
                  <a:cxn ang="T32">
                    <a:pos x="T12" y="T13"/>
                  </a:cxn>
                  <a:cxn ang="T33">
                    <a:pos x="T14" y="T15"/>
                  </a:cxn>
                  <a:cxn ang="T34">
                    <a:pos x="T16" y="T17"/>
                  </a:cxn>
                  <a:cxn ang="T35">
                    <a:pos x="T18" y="T19"/>
                  </a:cxn>
                  <a:cxn ang="T36">
                    <a:pos x="T20" y="T21"/>
                  </a:cxn>
                  <a:cxn ang="T37">
                    <a:pos x="T22" y="T23"/>
                  </a:cxn>
                  <a:cxn ang="T38">
                    <a:pos x="T24" y="T25"/>
                  </a:cxn>
                </a:cxnLst>
                <a:rect l="0" t="0" r="r" b="b"/>
                <a:pathLst>
                  <a:path w="1671177" h="1609411">
                    <a:moveTo>
                      <a:pt x="0" y="354510"/>
                    </a:moveTo>
                    <a:lnTo>
                      <a:pt x="556334" y="353057"/>
                    </a:lnTo>
                    <a:cubicBezTo>
                      <a:pt x="746291" y="355515"/>
                      <a:pt x="856347" y="257358"/>
                      <a:pt x="850996" y="94099"/>
                    </a:cubicBezTo>
                    <a:cubicBezTo>
                      <a:pt x="849023" y="-2780"/>
                      <a:pt x="929910" y="-28640"/>
                      <a:pt x="1004876" y="34278"/>
                    </a:cubicBezTo>
                    <a:lnTo>
                      <a:pt x="1577267" y="619386"/>
                    </a:lnTo>
                    <a:cubicBezTo>
                      <a:pt x="1720296" y="767053"/>
                      <a:pt x="1679854" y="873291"/>
                      <a:pt x="1589104" y="982488"/>
                    </a:cubicBezTo>
                    <a:lnTo>
                      <a:pt x="1013753" y="1548957"/>
                    </a:lnTo>
                    <a:cubicBezTo>
                      <a:pt x="927935" y="1643440"/>
                      <a:pt x="868752" y="1628432"/>
                      <a:pt x="853956" y="1495056"/>
                    </a:cubicBezTo>
                    <a:cubicBezTo>
                      <a:pt x="849443" y="1377760"/>
                      <a:pt x="794625" y="1269343"/>
                      <a:pt x="582967" y="1267456"/>
                    </a:cubicBezTo>
                    <a:lnTo>
                      <a:pt x="0" y="1267196"/>
                    </a:lnTo>
                    <a:lnTo>
                      <a:pt x="266330" y="989289"/>
                    </a:lnTo>
                    <a:cubicBezTo>
                      <a:pt x="347215" y="886703"/>
                      <a:pt x="398509" y="775239"/>
                      <a:pt x="287045" y="646020"/>
                    </a:cubicBezTo>
                    <a:lnTo>
                      <a:pt x="0" y="35451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endParaRPr lang="zh-CN" altLang="en-US" sz="2420"/>
              </a:p>
            </p:txBody>
          </p:sp>
          <p:sp>
            <p:nvSpPr>
              <p:cNvPr id="40" name="TextBox 27"/>
              <p:cNvSpPr txBox="1">
                <a:spLocks noChangeArrowheads="1"/>
              </p:cNvSpPr>
              <p:nvPr>
                <p:custDataLst>
                  <p:tags r:id="rId7"/>
                </p:custDataLst>
              </p:nvPr>
            </p:nvSpPr>
            <p:spPr bwMode="auto">
              <a:xfrm>
                <a:off x="499787" y="551919"/>
                <a:ext cx="989626" cy="453026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Calibri" panose="020F050202020403020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Calibri" panose="020F050202020403020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Calibri" panose="020F050202020403020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Calibri" panose="020F050202020403020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Calibri" panose="020F050202020403020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Calibri" panose="020F050202020403020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Calibri" panose="020F050202020403020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Calibri" panose="020F050202020403020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Calibri" panose="020F050202020403020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r>
                  <a:rPr lang="zh-CN" altLang="en-US" sz="3420" dirty="0">
                    <a:solidFill>
                      <a:srgbClr val="FFFFFF"/>
                    </a:solidFill>
                    <a:latin typeface="Impact" panose="020B0806030902050204" pitchFamily="34" charset="0"/>
                  </a:rPr>
                  <a:t>现有挑战</a:t>
                </a:r>
                <a:endParaRPr lang="zh-CN" altLang="en-US" sz="3420" dirty="0">
                  <a:solidFill>
                    <a:srgbClr val="FFFFFF"/>
                  </a:solidFill>
                  <a:latin typeface="Impact" panose="020B0806030902050204" pitchFamily="34" charset="0"/>
                </a:endParaRPr>
              </a:p>
            </p:txBody>
          </p:sp>
        </p:grpSp>
        <p:grpSp>
          <p:nvGrpSpPr>
            <p:cNvPr id="41" name="组合 31"/>
            <p:cNvGrpSpPr/>
            <p:nvPr>
              <p:custDataLst>
                <p:tags r:id="rId8"/>
              </p:custDataLst>
            </p:nvPr>
          </p:nvGrpSpPr>
          <p:grpSpPr bwMode="auto">
            <a:xfrm>
              <a:off x="2366" y="4964"/>
              <a:ext cx="3219" cy="3098"/>
              <a:chOff x="0" y="0"/>
              <a:chExt cx="1671177" cy="1609411"/>
            </a:xfrm>
            <a:solidFill>
              <a:schemeClr val="accent1"/>
            </a:solidFill>
            <a:effectLst/>
          </p:grpSpPr>
          <p:sp>
            <p:nvSpPr>
              <p:cNvPr id="42" name="右箭头 55"/>
              <p:cNvSpPr/>
              <p:nvPr>
                <p:custDataLst>
                  <p:tags r:id="rId9"/>
                </p:custDataLst>
              </p:nvPr>
            </p:nvSpPr>
            <p:spPr bwMode="auto">
              <a:xfrm>
                <a:off x="0" y="0"/>
                <a:ext cx="1671177" cy="1609411"/>
              </a:xfrm>
              <a:custGeom>
                <a:avLst/>
                <a:gdLst>
                  <a:gd name="T0" fmla="*/ 0 w 1671177"/>
                  <a:gd name="T1" fmla="*/ 354510 h 1609411"/>
                  <a:gd name="T2" fmla="*/ 556334 w 1671177"/>
                  <a:gd name="T3" fmla="*/ 353057 h 1609411"/>
                  <a:gd name="T4" fmla="*/ 850996 w 1671177"/>
                  <a:gd name="T5" fmla="*/ 94099 h 1609411"/>
                  <a:gd name="T6" fmla="*/ 1004876 w 1671177"/>
                  <a:gd name="T7" fmla="*/ 34278 h 1609411"/>
                  <a:gd name="T8" fmla="*/ 1577267 w 1671177"/>
                  <a:gd name="T9" fmla="*/ 619386 h 1609411"/>
                  <a:gd name="T10" fmla="*/ 1589104 w 1671177"/>
                  <a:gd name="T11" fmla="*/ 982488 h 1609411"/>
                  <a:gd name="T12" fmla="*/ 1013753 w 1671177"/>
                  <a:gd name="T13" fmla="*/ 1548957 h 1609411"/>
                  <a:gd name="T14" fmla="*/ 853956 w 1671177"/>
                  <a:gd name="T15" fmla="*/ 1495056 h 1609411"/>
                  <a:gd name="T16" fmla="*/ 582967 w 1671177"/>
                  <a:gd name="T17" fmla="*/ 1267456 h 1609411"/>
                  <a:gd name="T18" fmla="*/ 0 w 1671177"/>
                  <a:gd name="T19" fmla="*/ 1267196 h 1609411"/>
                  <a:gd name="T20" fmla="*/ 266330 w 1671177"/>
                  <a:gd name="T21" fmla="*/ 989289 h 1609411"/>
                  <a:gd name="T22" fmla="*/ 287045 w 1671177"/>
                  <a:gd name="T23" fmla="*/ 646020 h 1609411"/>
                  <a:gd name="T24" fmla="*/ 0 w 1671177"/>
                  <a:gd name="T25" fmla="*/ 354510 h 1609411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</a:gdLst>
                <a:ahLst/>
                <a:cxnLst>
                  <a:cxn ang="T26">
                    <a:pos x="T0" y="T1"/>
                  </a:cxn>
                  <a:cxn ang="T27">
                    <a:pos x="T2" y="T3"/>
                  </a:cxn>
                  <a:cxn ang="T28">
                    <a:pos x="T4" y="T5"/>
                  </a:cxn>
                  <a:cxn ang="T29">
                    <a:pos x="T6" y="T7"/>
                  </a:cxn>
                  <a:cxn ang="T30">
                    <a:pos x="T8" y="T9"/>
                  </a:cxn>
                  <a:cxn ang="T31">
                    <a:pos x="T10" y="T11"/>
                  </a:cxn>
                  <a:cxn ang="T32">
                    <a:pos x="T12" y="T13"/>
                  </a:cxn>
                  <a:cxn ang="T33">
                    <a:pos x="T14" y="T15"/>
                  </a:cxn>
                  <a:cxn ang="T34">
                    <a:pos x="T16" y="T17"/>
                  </a:cxn>
                  <a:cxn ang="T35">
                    <a:pos x="T18" y="T19"/>
                  </a:cxn>
                  <a:cxn ang="T36">
                    <a:pos x="T20" y="T21"/>
                  </a:cxn>
                  <a:cxn ang="T37">
                    <a:pos x="T22" y="T23"/>
                  </a:cxn>
                  <a:cxn ang="T38">
                    <a:pos x="T24" y="T25"/>
                  </a:cxn>
                </a:cxnLst>
                <a:rect l="0" t="0" r="r" b="b"/>
                <a:pathLst>
                  <a:path w="1671177" h="1609411">
                    <a:moveTo>
                      <a:pt x="0" y="354510"/>
                    </a:moveTo>
                    <a:lnTo>
                      <a:pt x="556334" y="353057"/>
                    </a:lnTo>
                    <a:cubicBezTo>
                      <a:pt x="746291" y="355515"/>
                      <a:pt x="856347" y="257358"/>
                      <a:pt x="850996" y="94099"/>
                    </a:cubicBezTo>
                    <a:cubicBezTo>
                      <a:pt x="849023" y="-2780"/>
                      <a:pt x="929910" y="-28640"/>
                      <a:pt x="1004876" y="34278"/>
                    </a:cubicBezTo>
                    <a:lnTo>
                      <a:pt x="1577267" y="619386"/>
                    </a:lnTo>
                    <a:cubicBezTo>
                      <a:pt x="1720296" y="767053"/>
                      <a:pt x="1679854" y="873291"/>
                      <a:pt x="1589104" y="982488"/>
                    </a:cubicBezTo>
                    <a:lnTo>
                      <a:pt x="1013753" y="1548957"/>
                    </a:lnTo>
                    <a:cubicBezTo>
                      <a:pt x="927935" y="1643440"/>
                      <a:pt x="868752" y="1628432"/>
                      <a:pt x="853956" y="1495056"/>
                    </a:cubicBezTo>
                    <a:cubicBezTo>
                      <a:pt x="849443" y="1377760"/>
                      <a:pt x="794625" y="1269343"/>
                      <a:pt x="582967" y="1267456"/>
                    </a:cubicBezTo>
                    <a:lnTo>
                      <a:pt x="0" y="1267196"/>
                    </a:lnTo>
                    <a:lnTo>
                      <a:pt x="266330" y="989289"/>
                    </a:lnTo>
                    <a:cubicBezTo>
                      <a:pt x="347215" y="886703"/>
                      <a:pt x="398509" y="775239"/>
                      <a:pt x="287045" y="646020"/>
                    </a:cubicBezTo>
                    <a:lnTo>
                      <a:pt x="0" y="35451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endParaRPr lang="zh-CN" altLang="en-US" sz="2420"/>
              </a:p>
            </p:txBody>
          </p:sp>
          <p:sp>
            <p:nvSpPr>
              <p:cNvPr id="43" name="TextBox 33"/>
              <p:cNvSpPr txBox="1">
                <a:spLocks noChangeArrowheads="1"/>
              </p:cNvSpPr>
              <p:nvPr>
                <p:custDataLst>
                  <p:tags r:id="rId10"/>
                </p:custDataLst>
              </p:nvPr>
            </p:nvSpPr>
            <p:spPr bwMode="auto">
              <a:xfrm>
                <a:off x="419481" y="543095"/>
                <a:ext cx="1095279" cy="453026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Calibri" panose="020F050202020403020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Calibri" panose="020F050202020403020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Calibri" panose="020F050202020403020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Calibri" panose="020F050202020403020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Calibri" panose="020F050202020403020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Calibri" panose="020F050202020403020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Calibri" panose="020F050202020403020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Calibri" panose="020F050202020403020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Calibri" panose="020F050202020403020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r>
                  <a:rPr lang="zh-CN" altLang="en-US" sz="3420" dirty="0">
                    <a:solidFill>
                      <a:srgbClr val="FFFFFF"/>
                    </a:solidFill>
                    <a:latin typeface="Impact" panose="020B0806030902050204" pitchFamily="34" charset="0"/>
                  </a:rPr>
                  <a:t>行业趋势</a:t>
                </a:r>
                <a:endParaRPr lang="zh-CN" altLang="en-US" sz="3420" dirty="0">
                  <a:solidFill>
                    <a:srgbClr val="FFFFFF"/>
                  </a:solidFill>
                  <a:latin typeface="Impact" panose="020B0806030902050204" pitchFamily="34" charset="0"/>
                </a:endParaRPr>
              </a:p>
            </p:txBody>
          </p:sp>
        </p:grpSp>
      </p:grpSp>
      <p:cxnSp>
        <p:nvCxnSpPr>
          <p:cNvPr id="48" name="直接连接符 40"/>
          <p:cNvCxnSpPr>
            <a:cxnSpLocks noChangeShapeType="1"/>
          </p:cNvCxnSpPr>
          <p:nvPr>
            <p:custDataLst>
              <p:tags r:id="rId11"/>
            </p:custDataLst>
          </p:nvPr>
        </p:nvCxnSpPr>
        <p:spPr bwMode="auto">
          <a:xfrm flipV="1">
            <a:off x="1776730" y="1360822"/>
            <a:ext cx="7037" cy="950781"/>
          </a:xfrm>
          <a:prstGeom prst="line">
            <a:avLst/>
          </a:prstGeom>
          <a:noFill/>
          <a:ln w="6350">
            <a:solidFill>
              <a:schemeClr val="tx1">
                <a:lumMod val="75000"/>
                <a:lumOff val="25000"/>
                <a:alpha val="98038"/>
              </a:schemeClr>
            </a:solidFill>
            <a:prstDash val="sysDot"/>
            <a:round/>
            <a:headEnd type="oval" w="med" len="med"/>
            <a:tailEnd type="oval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4" name="文本框 3"/>
          <p:cNvSpPr txBox="1"/>
          <p:nvPr>
            <p:custDataLst>
              <p:tags r:id="rId12"/>
            </p:custDataLst>
          </p:nvPr>
        </p:nvSpPr>
        <p:spPr>
          <a:xfrm>
            <a:off x="1884046" y="774700"/>
            <a:ext cx="2923540" cy="10994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医疗技术向精准化、智能化演进，手术机器人成为全球核心发展趋势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5" name="直接连接符 40"/>
          <p:cNvCxnSpPr>
            <a:cxnSpLocks noChangeShapeType="1"/>
          </p:cNvCxnSpPr>
          <p:nvPr>
            <p:custDataLst>
              <p:tags r:id="rId13"/>
            </p:custDataLst>
          </p:nvPr>
        </p:nvCxnSpPr>
        <p:spPr bwMode="auto">
          <a:xfrm flipV="1">
            <a:off x="4326188" y="5052693"/>
            <a:ext cx="0" cy="682424"/>
          </a:xfrm>
          <a:prstGeom prst="line">
            <a:avLst/>
          </a:prstGeom>
          <a:noFill/>
          <a:ln w="6350">
            <a:solidFill>
              <a:schemeClr val="tx1">
                <a:lumMod val="75000"/>
                <a:lumOff val="25000"/>
                <a:alpha val="98038"/>
              </a:schemeClr>
            </a:solidFill>
            <a:prstDash val="sysDot"/>
            <a:round/>
            <a:headEnd type="oval" w="med" len="med"/>
            <a:tailEnd type="oval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6" name="文本框 5"/>
          <p:cNvSpPr txBox="1"/>
          <p:nvPr>
            <p:custDataLst>
              <p:tags r:id="rId14"/>
            </p:custDataLst>
          </p:nvPr>
        </p:nvSpPr>
        <p:spPr>
          <a:xfrm>
            <a:off x="4414241" y="4824721"/>
            <a:ext cx="3653790" cy="441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噪声下语音鲁棒性不足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7" name="直接连接符 40"/>
          <p:cNvCxnSpPr>
            <a:cxnSpLocks noChangeShapeType="1"/>
          </p:cNvCxnSpPr>
          <p:nvPr>
            <p:custDataLst>
              <p:tags r:id="rId15"/>
            </p:custDataLst>
          </p:nvPr>
        </p:nvCxnSpPr>
        <p:spPr bwMode="auto">
          <a:xfrm flipV="1">
            <a:off x="7384416" y="1087100"/>
            <a:ext cx="0" cy="627511"/>
          </a:xfrm>
          <a:prstGeom prst="line">
            <a:avLst/>
          </a:prstGeom>
          <a:noFill/>
          <a:ln w="6350">
            <a:solidFill>
              <a:schemeClr val="tx1">
                <a:lumMod val="75000"/>
                <a:lumOff val="25000"/>
                <a:alpha val="98038"/>
              </a:schemeClr>
            </a:solidFill>
            <a:prstDash val="sysDot"/>
            <a:round/>
            <a:headEnd type="oval" w="med" len="med"/>
            <a:tailEnd type="oval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3" name="文本框 12"/>
          <p:cNvSpPr txBox="1"/>
          <p:nvPr/>
        </p:nvSpPr>
        <p:spPr>
          <a:xfrm>
            <a:off x="1818060" y="2000533"/>
            <a:ext cx="2725447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我国肝胆、胃肠等疾病发病率高，手术对精度和复杂性要求严苛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4" name="直接连接符 40"/>
          <p:cNvCxnSpPr>
            <a:cxnSpLocks noChangeShapeType="1"/>
          </p:cNvCxnSpPr>
          <p:nvPr>
            <p:custDataLst>
              <p:tags r:id="rId16"/>
            </p:custDataLst>
          </p:nvPr>
        </p:nvCxnSpPr>
        <p:spPr bwMode="auto">
          <a:xfrm flipV="1">
            <a:off x="4326188" y="5735117"/>
            <a:ext cx="0" cy="607161"/>
          </a:xfrm>
          <a:prstGeom prst="line">
            <a:avLst/>
          </a:prstGeom>
          <a:noFill/>
          <a:ln w="6350">
            <a:solidFill>
              <a:schemeClr val="tx1">
                <a:lumMod val="75000"/>
                <a:lumOff val="25000"/>
                <a:alpha val="98038"/>
              </a:schemeClr>
            </a:solidFill>
            <a:prstDash val="sysDot"/>
            <a:round/>
            <a:headEnd type="oval" w="med" len="med"/>
            <a:tailEnd type="oval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3" name="文本框 22"/>
          <p:cNvSpPr txBox="1"/>
          <p:nvPr>
            <p:custDataLst>
              <p:tags r:id="rId17"/>
            </p:custDataLst>
          </p:nvPr>
        </p:nvSpPr>
        <p:spPr>
          <a:xfrm>
            <a:off x="4414241" y="5497178"/>
            <a:ext cx="3653790" cy="441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算法泛化能力弱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4" name="文本框 23"/>
          <p:cNvSpPr txBox="1"/>
          <p:nvPr>
            <p:custDataLst>
              <p:tags r:id="rId18"/>
            </p:custDataLst>
          </p:nvPr>
        </p:nvSpPr>
        <p:spPr>
          <a:xfrm>
            <a:off x="4414241" y="6121320"/>
            <a:ext cx="3653790" cy="441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人机交互易用性较差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52" name="直接连接符 40"/>
          <p:cNvCxnSpPr>
            <a:cxnSpLocks noChangeShapeType="1"/>
          </p:cNvCxnSpPr>
          <p:nvPr>
            <p:custDataLst>
              <p:tags r:id="rId19"/>
            </p:custDataLst>
          </p:nvPr>
        </p:nvCxnSpPr>
        <p:spPr bwMode="auto">
          <a:xfrm flipV="1">
            <a:off x="7384416" y="1714611"/>
            <a:ext cx="0" cy="596992"/>
          </a:xfrm>
          <a:prstGeom prst="line">
            <a:avLst/>
          </a:prstGeom>
          <a:noFill/>
          <a:ln w="6350">
            <a:solidFill>
              <a:schemeClr val="tx1">
                <a:lumMod val="75000"/>
                <a:lumOff val="25000"/>
                <a:alpha val="98038"/>
              </a:schemeClr>
            </a:solidFill>
            <a:prstDash val="sysDot"/>
            <a:round/>
            <a:headEnd type="oval" w="med" len="med"/>
            <a:tailEnd type="oval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57" name="文本框 56"/>
          <p:cNvSpPr txBox="1"/>
          <p:nvPr>
            <p:custDataLst>
              <p:tags r:id="rId20"/>
            </p:custDataLst>
          </p:nvPr>
        </p:nvSpPr>
        <p:spPr>
          <a:xfrm>
            <a:off x="7384416" y="819485"/>
            <a:ext cx="3653790" cy="441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提升手术精度与效率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8" name="文本框 57"/>
          <p:cNvSpPr txBox="1"/>
          <p:nvPr>
            <p:custDataLst>
              <p:tags r:id="rId21"/>
            </p:custDataLst>
          </p:nvPr>
        </p:nvSpPr>
        <p:spPr>
          <a:xfrm>
            <a:off x="7248752" y="1483405"/>
            <a:ext cx="3653790" cy="441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“被动执行”  “主动协作” 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9" name="文本框 58"/>
          <p:cNvSpPr txBox="1"/>
          <p:nvPr>
            <p:custDataLst>
              <p:tags r:id="rId22"/>
            </p:custDataLst>
          </p:nvPr>
        </p:nvSpPr>
        <p:spPr>
          <a:xfrm>
            <a:off x="7405727" y="2044748"/>
            <a:ext cx="3653790" cy="441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助力基层医疗普及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0" name="箭头: 右 59"/>
          <p:cNvSpPr/>
          <p:nvPr/>
        </p:nvSpPr>
        <p:spPr>
          <a:xfrm>
            <a:off x="8761972" y="1620609"/>
            <a:ext cx="336495" cy="199461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矩形 4"/>
          <p:cNvSpPr/>
          <p:nvPr/>
        </p:nvSpPr>
        <p:spPr>
          <a:xfrm>
            <a:off x="0" y="0"/>
            <a:ext cx="12192000" cy="792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228600" dist="50800" dir="5400000" algn="t" rotWithShape="0">
              <a:prstClr val="black">
                <a:alpha val="29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80"/>
          </a:p>
        </p:txBody>
      </p:sp>
      <p:sp>
        <p:nvSpPr>
          <p:cNvPr id="4" name="文本框 3"/>
          <p:cNvSpPr txBox="1"/>
          <p:nvPr/>
        </p:nvSpPr>
        <p:spPr>
          <a:xfrm>
            <a:off x="6096000" y="1254993"/>
            <a:ext cx="5654675" cy="25928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zh-CN" altLang="en-US" sz="22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多模态融合感知：</a:t>
            </a:r>
            <a:r>
              <a:rPr lang="zh-CN" altLang="en-US" sz="22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集成</a:t>
            </a:r>
            <a:r>
              <a:rPr lang="zh-CN" altLang="en-US" sz="22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视觉语言模型（</a:t>
            </a:r>
            <a:r>
              <a:rPr lang="en-US" altLang="zh-CN" sz="22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VLM</a:t>
            </a:r>
            <a:r>
              <a:rPr lang="zh-CN" altLang="en-US" sz="22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）、多模态模型（</a:t>
            </a:r>
            <a:r>
              <a:rPr lang="en-US" altLang="zh-CN" sz="22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qwen2.5</a:t>
            </a:r>
            <a:r>
              <a:rPr lang="zh-CN" altLang="en-US" sz="22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）</a:t>
            </a:r>
            <a:endParaRPr lang="en-US" altLang="zh-CN" sz="2200" b="1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285750" indent="-28575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zh-CN" altLang="en-US" sz="22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精密抓取控制：</a:t>
            </a:r>
            <a:r>
              <a:rPr lang="zh-CN" altLang="en-US" sz="22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基于</a:t>
            </a:r>
            <a:r>
              <a:rPr lang="zh-CN" altLang="en-US" sz="22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</a:t>
            </a:r>
            <a:r>
              <a:rPr lang="en-US" altLang="zh-CN" sz="22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GraspNet </a:t>
            </a:r>
            <a:r>
              <a:rPr lang="zh-CN" altLang="en-US" sz="22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的抓取姿态预测与路径规划</a:t>
            </a:r>
            <a:endParaRPr lang="en-US" altLang="zh-CN" sz="22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285750" indent="-28575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zh-CN" altLang="en-US" sz="22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全流程验证：</a:t>
            </a:r>
            <a:r>
              <a:rPr lang="zh-CN" altLang="en-US" sz="22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覆盖仿真、算法调试到实机部署的完整链路</a:t>
            </a:r>
            <a:endParaRPr lang="zh-CN" altLang="en-US" sz="22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370205" y="126365"/>
            <a:ext cx="3470910" cy="52197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</a:bodyPr>
          <a:lstStyle/>
          <a:p>
            <a:pPr algn="l"/>
            <a:r>
              <a:rPr lang="zh-CN" altLang="en-US" sz="28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研究内容</a:t>
            </a:r>
            <a:endParaRPr lang="zh-CN" altLang="en-US" sz="2800" b="1" dirty="0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pic>
        <p:nvPicPr>
          <p:cNvPr id="1028" name="Picture 4" descr="一文搞懂多模态大模型：视觉-语言模型（VLM）全解析_vlm大模型-CSDN博客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2803" y="1209143"/>
            <a:ext cx="5403978" cy="26828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无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2803" y="3892029"/>
            <a:ext cx="5403978" cy="24740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文本框 1"/>
          <p:cNvSpPr txBox="1"/>
          <p:nvPr/>
        </p:nvSpPr>
        <p:spPr>
          <a:xfrm>
            <a:off x="6096000" y="3946466"/>
            <a:ext cx="5654675" cy="30929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2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创新点：</a:t>
            </a:r>
            <a:endParaRPr lang="en-US" altLang="zh-CN" sz="2200" b="1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285750" indent="-28575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zh-CN" altLang="en-US" sz="22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手术场景轻量化可部署设计：</a:t>
            </a:r>
            <a:r>
              <a:rPr lang="zh-CN" altLang="en-US" sz="22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本地化模型部署、低延迟通信</a:t>
            </a:r>
            <a:endParaRPr lang="en-US" altLang="zh-CN" sz="22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285750" indent="-28575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zh-CN" altLang="en-US" sz="22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多模态融合的智能感知与决策系统：</a:t>
            </a:r>
            <a:endParaRPr lang="en-US" altLang="zh-CN" sz="2200" b="1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2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   视觉</a:t>
            </a:r>
            <a:r>
              <a:rPr lang="en-US" altLang="zh-CN" sz="22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—</a:t>
            </a:r>
            <a:r>
              <a:rPr lang="zh-CN" altLang="en-US" sz="22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语言</a:t>
            </a:r>
            <a:r>
              <a:rPr lang="en-US" altLang="zh-CN" sz="22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—</a:t>
            </a:r>
            <a:r>
              <a:rPr lang="zh-CN" altLang="en-US" sz="22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机器人一体化架构</a:t>
            </a:r>
            <a:endParaRPr lang="en-US" altLang="zh-CN" sz="22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实时语义分割与抓取姿态协同优化</a:t>
            </a:r>
            <a:endParaRPr lang="en-US" altLang="zh-CN" sz="22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 lang="en-US" altLang="zh-CN" sz="2200" b="1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矩形 4"/>
          <p:cNvSpPr/>
          <p:nvPr/>
        </p:nvSpPr>
        <p:spPr>
          <a:xfrm>
            <a:off x="0" y="0"/>
            <a:ext cx="12192000" cy="792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228600" dist="50800" dir="5400000" algn="t" rotWithShape="0">
              <a:prstClr val="black">
                <a:alpha val="29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80"/>
          </a:p>
        </p:txBody>
      </p:sp>
      <p:sp>
        <p:nvSpPr>
          <p:cNvPr id="2" name="文本框 1"/>
          <p:cNvSpPr txBox="1"/>
          <p:nvPr/>
        </p:nvSpPr>
        <p:spPr>
          <a:xfrm>
            <a:off x="370205" y="126365"/>
            <a:ext cx="281305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实现流程</a:t>
            </a:r>
            <a:endParaRPr lang="zh-CN" altLang="en-US" sz="2800" b="1" dirty="0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8" name="圆角矩形 47"/>
          <p:cNvSpPr/>
          <p:nvPr/>
        </p:nvSpPr>
        <p:spPr>
          <a:xfrm>
            <a:off x="480060" y="5676900"/>
            <a:ext cx="11213465" cy="1054735"/>
          </a:xfrm>
          <a:prstGeom prst="roundRect">
            <a:avLst/>
          </a:prstGeom>
          <a:ln w="3810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圆角矩形 4"/>
          <p:cNvSpPr/>
          <p:nvPr/>
        </p:nvSpPr>
        <p:spPr>
          <a:xfrm>
            <a:off x="725805" y="5827395"/>
            <a:ext cx="1489075" cy="766445"/>
          </a:xfrm>
          <a:prstGeom prst="round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研究</a:t>
            </a:r>
            <a:endParaRPr lang="en-US" altLang="zh-CN" sz="28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全链路</a:t>
            </a:r>
            <a:endParaRPr lang="zh-CN" altLang="en-US" sz="28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2352675" y="5676900"/>
            <a:ext cx="1649095" cy="6350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理论储备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实验设计</a:t>
            </a: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右箭头 6"/>
          <p:cNvSpPr/>
          <p:nvPr/>
        </p:nvSpPr>
        <p:spPr>
          <a:xfrm>
            <a:off x="3902075" y="6071870"/>
            <a:ext cx="575945" cy="316865"/>
          </a:xfrm>
          <a:prstGeom prst="right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文本框 7"/>
          <p:cNvSpPr txBox="1"/>
          <p:nvPr/>
        </p:nvSpPr>
        <p:spPr>
          <a:xfrm>
            <a:off x="4562475" y="5676900"/>
            <a:ext cx="1649095" cy="6350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仿真模拟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验证效果</a:t>
            </a: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右箭头 8"/>
          <p:cNvSpPr/>
          <p:nvPr/>
        </p:nvSpPr>
        <p:spPr>
          <a:xfrm>
            <a:off x="6114415" y="6071870"/>
            <a:ext cx="575945" cy="316865"/>
          </a:xfrm>
          <a:prstGeom prst="right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文本框 9"/>
          <p:cNvSpPr txBox="1"/>
          <p:nvPr/>
        </p:nvSpPr>
        <p:spPr>
          <a:xfrm>
            <a:off x="6899910" y="5676900"/>
            <a:ext cx="2040890" cy="6350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算法优化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提高性能</a:t>
            </a: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右箭头 10"/>
          <p:cNvSpPr/>
          <p:nvPr/>
        </p:nvSpPr>
        <p:spPr>
          <a:xfrm>
            <a:off x="8597265" y="6071870"/>
            <a:ext cx="575945" cy="316865"/>
          </a:xfrm>
          <a:prstGeom prst="right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文本框 11"/>
          <p:cNvSpPr txBox="1"/>
          <p:nvPr/>
        </p:nvSpPr>
        <p:spPr>
          <a:xfrm>
            <a:off x="9420860" y="5676900"/>
            <a:ext cx="2040890" cy="6350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实机部署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成果落地</a:t>
            </a: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4" name="图片 3" descr="图形用户界面&#10;&#10;AI 生成的内容可能不正确。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4786" y="791483"/>
            <a:ext cx="8866022" cy="4181779"/>
          </a:xfrm>
          <a:prstGeom prst="rect">
            <a:avLst/>
          </a:prstGeom>
        </p:spPr>
      </p:pic>
      <p:sp>
        <p:nvSpPr>
          <p:cNvPr id="13" name="文本框 12"/>
          <p:cNvSpPr txBox="1"/>
          <p:nvPr/>
        </p:nvSpPr>
        <p:spPr>
          <a:xfrm>
            <a:off x="9954520" y="1511736"/>
            <a:ext cx="2044065" cy="12113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VLM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视觉语言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模型推理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(qwen2.5-VL)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10018020" y="3648456"/>
            <a:ext cx="2044065" cy="8266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SAM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图像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掩码分割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5" name="图片 1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08350" y="398145"/>
            <a:ext cx="3445510" cy="514540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矩形 4"/>
          <p:cNvSpPr/>
          <p:nvPr/>
        </p:nvSpPr>
        <p:spPr>
          <a:xfrm>
            <a:off x="0" y="0"/>
            <a:ext cx="12192000" cy="792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228600" dist="50800" dir="5400000" algn="t" rotWithShape="0">
              <a:prstClr val="black">
                <a:alpha val="29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80"/>
          </a:p>
        </p:txBody>
      </p:sp>
      <p:sp>
        <p:nvSpPr>
          <p:cNvPr id="2" name="文本框 1"/>
          <p:cNvSpPr txBox="1"/>
          <p:nvPr/>
        </p:nvSpPr>
        <p:spPr>
          <a:xfrm>
            <a:off x="370205" y="126365"/>
            <a:ext cx="281305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研究成果</a:t>
            </a:r>
            <a:r>
              <a:rPr lang="en-US" altLang="zh-CN" sz="2800" b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&amp;</a:t>
            </a:r>
            <a:r>
              <a:rPr lang="zh-CN" altLang="en-US" sz="2800" b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价值</a:t>
            </a:r>
            <a:endParaRPr lang="zh-CN" altLang="en-US" sz="2800" b="1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右箭头 6"/>
          <p:cNvSpPr/>
          <p:nvPr/>
        </p:nvSpPr>
        <p:spPr>
          <a:xfrm>
            <a:off x="6314440" y="5713095"/>
            <a:ext cx="577215" cy="484505"/>
          </a:xfrm>
          <a:prstGeom prst="right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370205" y="1926590"/>
            <a:ext cx="10802620" cy="250825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285750" indent="-28575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多模态指令解析技术：</a:t>
            </a: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indent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搭建如下所示的流程工作流，使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GraspNet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模型的抓取姿态预测准确性大幅提升。</a:t>
            </a: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indent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55" name="学论网www.xuelun.me-矩形 4"/>
          <p:cNvSpPr/>
          <p:nvPr>
            <p:custDataLst>
              <p:tags r:id="rId1"/>
            </p:custDataLst>
          </p:nvPr>
        </p:nvSpPr>
        <p:spPr>
          <a:xfrm>
            <a:off x="175260" y="1092835"/>
            <a:ext cx="2787015" cy="626110"/>
          </a:xfrm>
          <a:prstGeom prst="rect">
            <a:avLst/>
          </a:prstGeom>
        </p:spPr>
        <p:style>
          <a:lnRef idx="2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800" b="1">
                <a:solidFill>
                  <a:srgbClr val="FFFDF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关键技术</a:t>
            </a:r>
            <a:endParaRPr lang="zh-CN" altLang="en-US" sz="2800" b="1">
              <a:solidFill>
                <a:srgbClr val="FFFDFB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9725" y="4262120"/>
            <a:ext cx="3600000" cy="1820297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96265" y="4262120"/>
            <a:ext cx="3600000" cy="202500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48835" y="4262120"/>
            <a:ext cx="3600000" cy="2025000"/>
          </a:xfrm>
          <a:prstGeom prst="rect">
            <a:avLst/>
          </a:prstGeom>
        </p:spPr>
      </p:pic>
      <p:sp>
        <p:nvSpPr>
          <p:cNvPr id="8" name="右箭头 7"/>
          <p:cNvSpPr/>
          <p:nvPr/>
        </p:nvSpPr>
        <p:spPr>
          <a:xfrm>
            <a:off x="2606040" y="3605530"/>
            <a:ext cx="577215" cy="484505"/>
          </a:xfrm>
          <a:prstGeom prst="right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文本框 16"/>
          <p:cNvSpPr txBox="1"/>
          <p:nvPr>
            <p:custDataLst>
              <p:tags r:id="rId5"/>
            </p:custDataLst>
          </p:nvPr>
        </p:nvSpPr>
        <p:spPr>
          <a:xfrm>
            <a:off x="453390" y="3440430"/>
            <a:ext cx="2208530" cy="702945"/>
          </a:xfrm>
          <a:prstGeom prst="round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语音转文本</a:t>
            </a:r>
            <a:endParaRPr lang="zh-CN" altLang="en-US" sz="28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21" name="文本框 20"/>
          <p:cNvSpPr txBox="1"/>
          <p:nvPr>
            <p:custDataLst>
              <p:tags r:id="rId6"/>
            </p:custDataLst>
          </p:nvPr>
        </p:nvSpPr>
        <p:spPr>
          <a:xfrm>
            <a:off x="2922270" y="3434715"/>
            <a:ext cx="3133090" cy="703706"/>
          </a:xfrm>
          <a:prstGeom prst="round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多模态指令解析</a:t>
            </a:r>
            <a:endParaRPr lang="zh-CN" altLang="en-US" sz="28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23" name="文本框 22"/>
          <p:cNvSpPr txBox="1"/>
          <p:nvPr>
            <p:custDataLst>
              <p:tags r:id="rId7"/>
            </p:custDataLst>
          </p:nvPr>
        </p:nvSpPr>
        <p:spPr>
          <a:xfrm>
            <a:off x="6315710" y="3440430"/>
            <a:ext cx="2208530" cy="698074"/>
          </a:xfrm>
          <a:prstGeom prst="round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图像分割</a:t>
            </a:r>
            <a:endParaRPr lang="zh-CN" altLang="en-US" sz="28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25" name="文本框 24"/>
          <p:cNvSpPr txBox="1"/>
          <p:nvPr>
            <p:custDataLst>
              <p:tags r:id="rId8"/>
            </p:custDataLst>
          </p:nvPr>
        </p:nvSpPr>
        <p:spPr>
          <a:xfrm>
            <a:off x="8903335" y="3434715"/>
            <a:ext cx="2208530" cy="698074"/>
          </a:xfrm>
          <a:prstGeom prst="round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掩码生成</a:t>
            </a:r>
            <a:endParaRPr lang="zh-CN" altLang="en-US" sz="28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26" name="右箭头 25"/>
          <p:cNvSpPr/>
          <p:nvPr/>
        </p:nvSpPr>
        <p:spPr>
          <a:xfrm>
            <a:off x="8472170" y="3605530"/>
            <a:ext cx="577215" cy="484505"/>
          </a:xfrm>
          <a:prstGeom prst="right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8" name="右箭头 27"/>
          <p:cNvSpPr/>
          <p:nvPr/>
        </p:nvSpPr>
        <p:spPr>
          <a:xfrm>
            <a:off x="5934710" y="3605530"/>
            <a:ext cx="577215" cy="484505"/>
          </a:xfrm>
          <a:prstGeom prst="right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decel="533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75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75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5" grpId="0" bldLvl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矩形 4"/>
          <p:cNvSpPr/>
          <p:nvPr/>
        </p:nvSpPr>
        <p:spPr>
          <a:xfrm>
            <a:off x="0" y="0"/>
            <a:ext cx="12192000" cy="792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228600" dist="50800" dir="5400000" algn="t" rotWithShape="0">
              <a:prstClr val="black">
                <a:alpha val="29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80"/>
          </a:p>
        </p:txBody>
      </p:sp>
      <p:sp>
        <p:nvSpPr>
          <p:cNvPr id="2" name="文本框 1"/>
          <p:cNvSpPr txBox="1"/>
          <p:nvPr/>
        </p:nvSpPr>
        <p:spPr>
          <a:xfrm>
            <a:off x="370205" y="126365"/>
            <a:ext cx="281305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研究成果</a:t>
            </a:r>
            <a:r>
              <a:rPr lang="en-US" altLang="zh-CN" sz="2800" b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&amp;</a:t>
            </a:r>
            <a:r>
              <a:rPr lang="zh-CN" altLang="en-US" sz="2800" b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价值</a:t>
            </a:r>
            <a:endParaRPr lang="zh-CN" altLang="en-US" sz="2800" b="1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5" name="学论网www.xuelun.me-矩形 4"/>
          <p:cNvSpPr/>
          <p:nvPr>
            <p:custDataLst>
              <p:tags r:id="rId1"/>
            </p:custDataLst>
          </p:nvPr>
        </p:nvSpPr>
        <p:spPr>
          <a:xfrm>
            <a:off x="175260" y="1092835"/>
            <a:ext cx="2787015" cy="626110"/>
          </a:xfrm>
          <a:prstGeom prst="rect">
            <a:avLst/>
          </a:prstGeom>
        </p:spPr>
        <p:style>
          <a:lnRef idx="2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800" b="1">
                <a:solidFill>
                  <a:srgbClr val="FFFDF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效果展示</a:t>
            </a:r>
            <a:endParaRPr lang="zh-CN" altLang="en-US" sz="2800" b="1">
              <a:solidFill>
                <a:srgbClr val="FFFDFB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6" name="右箭头 25"/>
          <p:cNvSpPr/>
          <p:nvPr/>
        </p:nvSpPr>
        <p:spPr>
          <a:xfrm>
            <a:off x="5475605" y="3611880"/>
            <a:ext cx="829945" cy="484505"/>
          </a:xfrm>
          <a:prstGeom prst="right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9" name="图片 8" descr="1"/>
          <p:cNvPicPr>
            <a:picLocks noChangeAspect="1"/>
          </p:cNvPicPr>
          <p:nvPr/>
        </p:nvPicPr>
        <p:blipFill>
          <a:blip r:embed="rId2"/>
          <a:srcRect l="23979" t="15359" r="8851"/>
          <a:stretch>
            <a:fillRect/>
          </a:stretch>
        </p:blipFill>
        <p:spPr>
          <a:xfrm>
            <a:off x="86360" y="2019935"/>
            <a:ext cx="5474970" cy="4040505"/>
          </a:xfrm>
          <a:prstGeom prst="rect">
            <a:avLst/>
          </a:prstGeom>
        </p:spPr>
      </p:pic>
      <p:pic>
        <p:nvPicPr>
          <p:cNvPr id="10" name="图片 9" descr="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5550" y="2070735"/>
            <a:ext cx="5736590" cy="3225800"/>
          </a:xfrm>
          <a:prstGeom prst="rect">
            <a:avLst/>
          </a:prstGeom>
        </p:spPr>
      </p:pic>
      <p:sp>
        <p:nvSpPr>
          <p:cNvPr id="11" name="文本框 10"/>
          <p:cNvSpPr txBox="1"/>
          <p:nvPr/>
        </p:nvSpPr>
        <p:spPr>
          <a:xfrm>
            <a:off x="1553210" y="6094730"/>
            <a:ext cx="2336800" cy="46926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zh-CN" altLang="en-US" sz="2400"/>
              <a:t>切割前</a:t>
            </a:r>
            <a:endParaRPr lang="zh-CN" altLang="en-US" sz="2400"/>
          </a:p>
        </p:txBody>
      </p:sp>
      <p:sp>
        <p:nvSpPr>
          <p:cNvPr id="12" name="文本框 11"/>
          <p:cNvSpPr txBox="1"/>
          <p:nvPr/>
        </p:nvSpPr>
        <p:spPr>
          <a:xfrm>
            <a:off x="8005445" y="6060440"/>
            <a:ext cx="2336800" cy="46926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zh-CN" altLang="en-US" sz="2400"/>
              <a:t>切割后</a:t>
            </a:r>
            <a:endParaRPr lang="zh-CN" altLang="en-US" sz="24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decel="533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75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75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5" grpId="0" bldLvl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矩形 4"/>
          <p:cNvSpPr/>
          <p:nvPr/>
        </p:nvSpPr>
        <p:spPr>
          <a:xfrm>
            <a:off x="0" y="0"/>
            <a:ext cx="12192000" cy="792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228600" dist="50800" dir="5400000" algn="t" rotWithShape="0">
              <a:prstClr val="black">
                <a:alpha val="29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80"/>
          </a:p>
        </p:txBody>
      </p:sp>
      <p:sp>
        <p:nvSpPr>
          <p:cNvPr id="4" name="文本框 3"/>
          <p:cNvSpPr txBox="1"/>
          <p:nvPr/>
        </p:nvSpPr>
        <p:spPr>
          <a:xfrm>
            <a:off x="4925695" y="2095500"/>
            <a:ext cx="5654675" cy="30537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zh-CN" sz="22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VLM </a:t>
            </a:r>
            <a:r>
              <a:rPr lang="zh-CN" altLang="en-US" sz="22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模型的集成</a:t>
            </a:r>
            <a:r>
              <a:rPr lang="en-US" altLang="zh-CN" sz="22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——</a:t>
            </a:r>
            <a:r>
              <a:rPr lang="zh-CN" altLang="en-US" sz="22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指导机械臂进行抓取，并不断优化</a:t>
            </a:r>
            <a:endParaRPr lang="zh-CN" altLang="en-US" sz="22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marL="285750" indent="-28575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zh-CN" altLang="en-US" sz="22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核心模型升级与多模态指令处理</a:t>
            </a:r>
            <a:r>
              <a:rPr lang="en-US" altLang="zh-CN" sz="22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——</a:t>
            </a:r>
            <a:r>
              <a:rPr lang="zh-CN" altLang="en-US" sz="22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帮助模型过滤背景干扰，大幅提升抓取姿态预测的准确性</a:t>
            </a:r>
            <a:endParaRPr lang="zh-CN" altLang="en-US" sz="22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marL="285750" indent="-28575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zh-CN" altLang="en-US" sz="22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实机部署</a:t>
            </a:r>
            <a:r>
              <a:rPr lang="en-US" altLang="zh-CN" sz="22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——</a:t>
            </a:r>
            <a:r>
              <a:rPr lang="zh-CN" altLang="en-US" sz="22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将生成的抓取点位传输到机械臂的控制代码，操纵机械臂抓取</a:t>
            </a:r>
            <a:endParaRPr lang="zh-CN" altLang="en-US" sz="22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370205" y="126365"/>
            <a:ext cx="3470910" cy="95313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</a:bodyPr>
          <a:lstStyle/>
          <a:p>
            <a:pPr algn="l"/>
            <a:r>
              <a:rPr lang="zh-CN" altLang="en-US" sz="2800" b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研究成果</a:t>
            </a:r>
            <a:r>
              <a:rPr lang="en-US" altLang="zh-CN" sz="2800" b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&amp;</a:t>
            </a:r>
            <a:r>
              <a:rPr lang="zh-CN" altLang="en-US" sz="2800" b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价值</a:t>
            </a:r>
            <a:endParaRPr lang="zh-CN" altLang="en-US" sz="2800" b="1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/>
            <a:endParaRPr lang="zh-CN" altLang="en-US" sz="2800" b="1" dirty="0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5675" y="1038860"/>
            <a:ext cx="3340100" cy="5281295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1579245" y="6363970"/>
            <a:ext cx="342011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/>
              <a:t>图：实机抓取</a:t>
            </a:r>
            <a:endParaRPr lang="zh-CN" altLang="en-US" sz="2400"/>
          </a:p>
        </p:txBody>
      </p:sp>
      <p:grpSp>
        <p:nvGrpSpPr>
          <p:cNvPr id="47" name="组合 46"/>
          <p:cNvGrpSpPr/>
          <p:nvPr>
            <p:custDataLst>
              <p:tags r:id="rId2"/>
            </p:custDataLst>
          </p:nvPr>
        </p:nvGrpSpPr>
        <p:grpSpPr>
          <a:xfrm>
            <a:off x="4597400" y="1010285"/>
            <a:ext cx="2225040" cy="739140"/>
            <a:chOff x="3421" y="8376"/>
            <a:chExt cx="3618" cy="1945"/>
          </a:xfrm>
        </p:grpSpPr>
        <p:sp>
          <p:nvSpPr>
            <p:cNvPr id="48" name="圆角矩形 47"/>
            <p:cNvSpPr/>
            <p:nvPr>
              <p:custDataLst>
                <p:tags r:id="rId3"/>
              </p:custDataLst>
            </p:nvPr>
          </p:nvSpPr>
          <p:spPr>
            <a:xfrm>
              <a:off x="3421" y="8376"/>
              <a:ext cx="3618" cy="1945"/>
            </a:xfrm>
            <a:prstGeom prst="roundRect">
              <a:avLst/>
            </a:prstGeom>
            <a:ln w="38100"/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9" name="文本框 48"/>
            <p:cNvSpPr txBox="1"/>
            <p:nvPr>
              <p:custDataLst>
                <p:tags r:id="rId4"/>
              </p:custDataLst>
            </p:nvPr>
          </p:nvSpPr>
          <p:spPr>
            <a:xfrm>
              <a:off x="3619" y="8377"/>
              <a:ext cx="3223" cy="1837"/>
            </a:xfrm>
            <a:prstGeom prst="round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25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2800"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实现内容</a:t>
              </a:r>
              <a:endParaRPr lang="en-US" altLang="zh-CN" sz="2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矩形 4"/>
          <p:cNvSpPr/>
          <p:nvPr/>
        </p:nvSpPr>
        <p:spPr>
          <a:xfrm>
            <a:off x="-56515" y="0"/>
            <a:ext cx="12192000" cy="792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228600" dist="50800" dir="5400000" algn="t" rotWithShape="0">
              <a:prstClr val="black">
                <a:alpha val="29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80"/>
          </a:p>
        </p:txBody>
      </p:sp>
      <p:sp>
        <p:nvSpPr>
          <p:cNvPr id="3" name="文本框 2"/>
          <p:cNvSpPr txBox="1"/>
          <p:nvPr/>
        </p:nvSpPr>
        <p:spPr>
          <a:xfrm>
            <a:off x="370205" y="126365"/>
            <a:ext cx="281305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研究成果</a:t>
            </a:r>
            <a:r>
              <a:rPr lang="en-US" altLang="zh-CN" sz="2800" b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&amp;</a:t>
            </a:r>
            <a:r>
              <a:rPr lang="zh-CN" altLang="en-US" sz="2800" b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价值</a:t>
            </a:r>
            <a:endParaRPr lang="zh-CN" altLang="en-US" sz="2800" b="1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4" name="图表 3"/>
          <p:cNvGraphicFramePr/>
          <p:nvPr>
            <p:custDataLst>
              <p:tags r:id="rId3"/>
            </p:custDataLst>
          </p:nvPr>
        </p:nvGraphicFramePr>
        <p:xfrm>
          <a:off x="488950" y="791845"/>
          <a:ext cx="3782695" cy="22002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2" name="文本框 1"/>
          <p:cNvSpPr txBox="1"/>
          <p:nvPr>
            <p:custDataLst>
              <p:tags r:id="rId4"/>
            </p:custDataLst>
          </p:nvPr>
        </p:nvSpPr>
        <p:spPr>
          <a:xfrm>
            <a:off x="276860" y="2823845"/>
            <a:ext cx="4193540" cy="108521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altLang="en-US"/>
              <a:t>基于</a:t>
            </a:r>
            <a:r>
              <a:rPr lang="en-US" altLang="zh-CN"/>
              <a:t> Qwen-VL </a:t>
            </a:r>
            <a:r>
              <a:rPr lang="zh-CN" altLang="en-US"/>
              <a:t>与</a:t>
            </a:r>
            <a:r>
              <a:rPr lang="en-US" altLang="zh-CN"/>
              <a:t> SAM </a:t>
            </a:r>
            <a:r>
              <a:rPr lang="zh-CN" altLang="en-US"/>
              <a:t>的视觉</a:t>
            </a:r>
            <a:r>
              <a:rPr lang="en-US" altLang="zh-CN"/>
              <a:t>-</a:t>
            </a:r>
            <a:r>
              <a:rPr lang="zh-CN" altLang="en-US"/>
              <a:t>语言理解模块的识别与分割成功率超过</a:t>
            </a:r>
            <a:r>
              <a:rPr lang="en-US" altLang="zh-CN"/>
              <a:t> </a:t>
            </a:r>
            <a:r>
              <a:rPr lang="en-US" altLang="zh-CN" b="1"/>
              <a:t>90%</a:t>
            </a:r>
            <a:r>
              <a:rPr lang="zh-CN" altLang="en-US"/>
              <a:t>，证明了指令解析与像素级理解的可靠性。</a:t>
            </a:r>
            <a:endParaRPr lang="zh-CN" altLang="en-US"/>
          </a:p>
        </p:txBody>
      </p:sp>
      <p:sp>
        <p:nvSpPr>
          <p:cNvPr id="6" name="文本框 5"/>
          <p:cNvSpPr txBox="1"/>
          <p:nvPr>
            <p:custDataLst>
              <p:tags r:id="rId5"/>
            </p:custDataLst>
          </p:nvPr>
        </p:nvSpPr>
        <p:spPr>
          <a:xfrm>
            <a:off x="0" y="5659120"/>
            <a:ext cx="4653280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/>
              <a:t>全流程闭环测试的整体成功率约为</a:t>
            </a:r>
            <a:r>
              <a:rPr lang="en-US" altLang="zh-CN"/>
              <a:t> </a:t>
            </a:r>
            <a:r>
              <a:rPr lang="en-US" altLang="zh-CN" b="1"/>
              <a:t>30%</a:t>
            </a:r>
            <a:r>
              <a:rPr lang="zh-CN" altLang="en-US" b="1"/>
              <a:t>，</a:t>
            </a:r>
            <a:r>
              <a:rPr lang="zh-CN" altLang="en-US"/>
              <a:t>未成功抓取</a:t>
            </a:r>
            <a:r>
              <a:rPr lang="zh-CN" altLang="en-US" b="1"/>
              <a:t>误差为</a:t>
            </a:r>
            <a:r>
              <a:rPr lang="en-US" altLang="zh-CN" b="1"/>
              <a:t>2-4cm</a:t>
            </a:r>
            <a:r>
              <a:rPr lang="zh-CN" altLang="en-US" b="1"/>
              <a:t>，</a:t>
            </a:r>
            <a:r>
              <a:rPr lang="zh-CN" altLang="en-US"/>
              <a:t>误差主要来源于深度相机点云噪声、手眼标定残余误差及机械臂绝对定位精度等物理限制。</a:t>
            </a:r>
            <a:endParaRPr lang="zh-CN" altLang="en-US" b="1"/>
          </a:p>
        </p:txBody>
      </p:sp>
      <p:graphicFrame>
        <p:nvGraphicFramePr>
          <p:cNvPr id="7" name="图表 6"/>
          <p:cNvGraphicFramePr/>
          <p:nvPr>
            <p:custDataLst>
              <p:tags r:id="rId6"/>
            </p:custDataLst>
          </p:nvPr>
        </p:nvGraphicFramePr>
        <p:xfrm>
          <a:off x="276860" y="3612515"/>
          <a:ext cx="4341495" cy="21494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8" name="文本框 7"/>
          <p:cNvSpPr txBox="1"/>
          <p:nvPr>
            <p:custDataLst>
              <p:tags r:id="rId7"/>
            </p:custDataLst>
          </p:nvPr>
        </p:nvSpPr>
        <p:spPr>
          <a:xfrm>
            <a:off x="1674495" y="1597025"/>
            <a:ext cx="1166495" cy="58991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CN" sz="3200">
                <a:latin typeface="微软雅黑" panose="020B0503020204020204" pitchFamily="34" charset="-122"/>
                <a:ea typeface="微软雅黑" panose="020B0503020204020204" pitchFamily="34" charset="-122"/>
              </a:rPr>
              <a:t>90%</a:t>
            </a:r>
            <a:endParaRPr lang="en-US" altLang="zh-CN" sz="32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文本框 8"/>
          <p:cNvSpPr txBox="1"/>
          <p:nvPr>
            <p:custDataLst>
              <p:tags r:id="rId8"/>
            </p:custDataLst>
          </p:nvPr>
        </p:nvSpPr>
        <p:spPr>
          <a:xfrm>
            <a:off x="1711325" y="4399280"/>
            <a:ext cx="1337945" cy="57594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CN" sz="3200">
                <a:latin typeface="微软雅黑" panose="020B0503020204020204" pitchFamily="34" charset="-122"/>
                <a:ea typeface="微软雅黑" panose="020B0503020204020204" pitchFamily="34" charset="-122"/>
              </a:rPr>
              <a:t>30%</a:t>
            </a:r>
            <a:endParaRPr lang="en-US" altLang="zh-CN" sz="32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517390" y="1539875"/>
            <a:ext cx="7618095" cy="4303395"/>
          </a:xfrm>
          <a:prstGeom prst="rect">
            <a:avLst/>
          </a:prstGeom>
        </p:spPr>
      </p:pic>
      <p:sp>
        <p:nvSpPr>
          <p:cNvPr id="11" name="文本框 10"/>
          <p:cNvSpPr txBox="1"/>
          <p:nvPr/>
        </p:nvSpPr>
        <p:spPr>
          <a:xfrm>
            <a:off x="10172700" y="1675130"/>
            <a:ext cx="1035050" cy="888365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txBody>
          <a:bodyPr wrap="square" rtlCol="0">
            <a:noAutofit/>
          </a:bodyPr>
          <a:p>
            <a:endParaRPr lang="zh-CN" altLang="en-US"/>
          </a:p>
        </p:txBody>
      </p:sp>
      <p:sp>
        <p:nvSpPr>
          <p:cNvPr id="12" name="文本框 11"/>
          <p:cNvSpPr txBox="1"/>
          <p:nvPr/>
        </p:nvSpPr>
        <p:spPr>
          <a:xfrm>
            <a:off x="7359650" y="4799330"/>
            <a:ext cx="1035050" cy="888365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txBody>
          <a:bodyPr wrap="square" rtlCol="0">
            <a:noAutofit/>
          </a:bodyPr>
          <a:p>
            <a:endParaRPr lang="zh-CN" alt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矩形 4"/>
          <p:cNvSpPr/>
          <p:nvPr/>
        </p:nvSpPr>
        <p:spPr>
          <a:xfrm>
            <a:off x="0" y="0"/>
            <a:ext cx="12192000" cy="792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228600" dist="50800" dir="5400000" algn="t" rotWithShape="0">
              <a:prstClr val="black">
                <a:alpha val="29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80"/>
          </a:p>
        </p:txBody>
      </p:sp>
      <p:sp>
        <p:nvSpPr>
          <p:cNvPr id="25" name="TextBox 35"/>
          <p:cNvSpPr txBox="1"/>
          <p:nvPr/>
        </p:nvSpPr>
        <p:spPr>
          <a:xfrm>
            <a:off x="7736840" y="1089025"/>
            <a:ext cx="4150995" cy="1181100"/>
          </a:xfrm>
          <a:prstGeom prst="rect">
            <a:avLst/>
          </a:prstGeom>
          <a:noFill/>
        </p:spPr>
        <p:txBody>
          <a:bodyPr wrap="square" lIns="73910" tIns="36956" rIns="73910" bIns="36956" rtlCol="0">
            <a:spAutoFit/>
          </a:bodyPr>
          <a:lstStyle/>
          <a:p>
            <a:r>
              <a:rPr lang="zh-CN" altLang="en-US" sz="24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专科手术工作流的</a:t>
            </a:r>
            <a:endParaRPr lang="zh-CN" altLang="en-US" sz="2400" b="1" dirty="0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r>
              <a:rPr lang="zh-CN" altLang="en-US" sz="24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智能化改造</a:t>
            </a:r>
            <a:endParaRPr lang="zh-CN" altLang="en-US" sz="2400" b="1"/>
          </a:p>
          <a:p>
            <a:endParaRPr lang="zh-CN" altLang="en-US" sz="2400" b="1" dirty="0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2" name="TextBox 37"/>
          <p:cNvSpPr txBox="1"/>
          <p:nvPr/>
        </p:nvSpPr>
        <p:spPr>
          <a:xfrm>
            <a:off x="7837805" y="4584065"/>
            <a:ext cx="3053080" cy="812165"/>
          </a:xfrm>
          <a:prstGeom prst="rect">
            <a:avLst/>
          </a:prstGeom>
          <a:noFill/>
        </p:spPr>
        <p:txBody>
          <a:bodyPr wrap="square" lIns="73910" tIns="36956" rIns="73910" bIns="36956" rtlCol="0">
            <a:spAutoFit/>
          </a:bodyPr>
          <a:lstStyle/>
          <a:p>
            <a:r>
              <a:rPr lang="zh-CN" altLang="en-US" sz="24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对国产高端医疗装备政策导向的响应</a:t>
            </a:r>
            <a:endParaRPr lang="zh-CN" altLang="en-US" sz="2400" b="1" dirty="0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7" name="TextBox 39"/>
          <p:cNvSpPr txBox="1"/>
          <p:nvPr/>
        </p:nvSpPr>
        <p:spPr>
          <a:xfrm>
            <a:off x="577850" y="4772660"/>
            <a:ext cx="3637280" cy="442595"/>
          </a:xfrm>
          <a:prstGeom prst="rect">
            <a:avLst/>
          </a:prstGeom>
          <a:noFill/>
        </p:spPr>
        <p:txBody>
          <a:bodyPr wrap="square" lIns="73910" tIns="36956" rIns="73910" bIns="36956" rtlCol="0">
            <a:spAutoFit/>
          </a:bodyPr>
          <a:lstStyle/>
          <a:p>
            <a:pPr algn="r"/>
            <a:r>
              <a:rPr lang="zh-CN" altLang="en-US" sz="24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可扩展的产业化路径</a:t>
            </a:r>
            <a:endParaRPr lang="zh-CN" altLang="en-US" sz="2400" b="1" dirty="0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9" name="TextBox 41"/>
          <p:cNvSpPr txBox="1"/>
          <p:nvPr/>
        </p:nvSpPr>
        <p:spPr>
          <a:xfrm>
            <a:off x="676910" y="1045210"/>
            <a:ext cx="3694430" cy="608330"/>
          </a:xfrm>
          <a:prstGeom prst="rect">
            <a:avLst/>
          </a:prstGeom>
          <a:noFill/>
        </p:spPr>
        <p:txBody>
          <a:bodyPr wrap="square" lIns="73910" tIns="36956" rIns="73910" bIns="36956" rtlCol="0">
            <a:noAutofit/>
            <a:scene3d>
              <a:camera prst="orthographicFront"/>
              <a:lightRig rig="threePt" dir="t"/>
            </a:scene3d>
          </a:bodyPr>
          <a:lstStyle/>
          <a:p>
            <a:pPr algn="r"/>
            <a:r>
              <a:rPr lang="zh-CN" altLang="en-US" sz="24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精细手术仪器</a:t>
            </a:r>
            <a:endParaRPr lang="zh-CN" altLang="en-US" sz="2400" b="1" dirty="0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algn="r"/>
            <a:r>
              <a:rPr lang="zh-CN" altLang="en-US" sz="24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真机抓取</a:t>
            </a:r>
            <a:endParaRPr lang="zh-CN" altLang="en-US" sz="2400" b="1" dirty="0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5" name="组合 4"/>
          <p:cNvGrpSpPr/>
          <p:nvPr/>
        </p:nvGrpSpPr>
        <p:grpSpPr>
          <a:xfrm>
            <a:off x="4156075" y="1653540"/>
            <a:ext cx="3595370" cy="3542030"/>
            <a:chOff x="6311" y="3207"/>
            <a:chExt cx="5662" cy="5578"/>
          </a:xfrm>
        </p:grpSpPr>
        <p:sp>
          <p:nvSpPr>
            <p:cNvPr id="18" name="Freeform 10"/>
            <p:cNvSpPr/>
            <p:nvPr/>
          </p:nvSpPr>
          <p:spPr bwMode="auto">
            <a:xfrm>
              <a:off x="11479" y="3500"/>
              <a:ext cx="495" cy="495"/>
            </a:xfrm>
            <a:custGeom>
              <a:avLst/>
              <a:gdLst>
                <a:gd name="T0" fmla="*/ 477 w 477"/>
                <a:gd name="T1" fmla="*/ 0 h 476"/>
                <a:gd name="T2" fmla="*/ 413 w 477"/>
                <a:gd name="T3" fmla="*/ 238 h 476"/>
                <a:gd name="T4" fmla="*/ 349 w 477"/>
                <a:gd name="T5" fmla="*/ 476 h 476"/>
                <a:gd name="T6" fmla="*/ 175 w 477"/>
                <a:gd name="T7" fmla="*/ 302 h 476"/>
                <a:gd name="T8" fmla="*/ 0 w 477"/>
                <a:gd name="T9" fmla="*/ 127 h 476"/>
                <a:gd name="T10" fmla="*/ 239 w 477"/>
                <a:gd name="T11" fmla="*/ 63 h 476"/>
                <a:gd name="T12" fmla="*/ 477 w 477"/>
                <a:gd name="T13" fmla="*/ 0 h 4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77" h="476">
                  <a:moveTo>
                    <a:pt x="477" y="0"/>
                  </a:moveTo>
                  <a:lnTo>
                    <a:pt x="413" y="238"/>
                  </a:lnTo>
                  <a:lnTo>
                    <a:pt x="349" y="476"/>
                  </a:lnTo>
                  <a:lnTo>
                    <a:pt x="175" y="302"/>
                  </a:lnTo>
                  <a:lnTo>
                    <a:pt x="0" y="127"/>
                  </a:lnTo>
                  <a:lnTo>
                    <a:pt x="239" y="63"/>
                  </a:lnTo>
                  <a:lnTo>
                    <a:pt x="477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73910" tIns="36956" rIns="73910" bIns="36956" numCol="1" anchor="t" anchorCtr="0" compatLnSpc="1"/>
            <a:lstStyle/>
            <a:p>
              <a:endParaRPr lang="zh-CN" altLang="en-US" sz="242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19" name="Freeform 11"/>
            <p:cNvSpPr/>
            <p:nvPr/>
          </p:nvSpPr>
          <p:spPr bwMode="auto">
            <a:xfrm>
              <a:off x="6626" y="3500"/>
              <a:ext cx="495" cy="495"/>
            </a:xfrm>
            <a:custGeom>
              <a:avLst/>
              <a:gdLst>
                <a:gd name="T0" fmla="*/ 0 w 476"/>
                <a:gd name="T1" fmla="*/ 0 h 476"/>
                <a:gd name="T2" fmla="*/ 63 w 476"/>
                <a:gd name="T3" fmla="*/ 238 h 476"/>
                <a:gd name="T4" fmla="*/ 127 w 476"/>
                <a:gd name="T5" fmla="*/ 476 h 476"/>
                <a:gd name="T6" fmla="*/ 302 w 476"/>
                <a:gd name="T7" fmla="*/ 302 h 476"/>
                <a:gd name="T8" fmla="*/ 476 w 476"/>
                <a:gd name="T9" fmla="*/ 127 h 476"/>
                <a:gd name="T10" fmla="*/ 238 w 476"/>
                <a:gd name="T11" fmla="*/ 63 h 476"/>
                <a:gd name="T12" fmla="*/ 0 w 476"/>
                <a:gd name="T13" fmla="*/ 0 h 4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76" h="476">
                  <a:moveTo>
                    <a:pt x="0" y="0"/>
                  </a:moveTo>
                  <a:lnTo>
                    <a:pt x="63" y="238"/>
                  </a:lnTo>
                  <a:lnTo>
                    <a:pt x="127" y="476"/>
                  </a:lnTo>
                  <a:lnTo>
                    <a:pt x="302" y="302"/>
                  </a:lnTo>
                  <a:lnTo>
                    <a:pt x="476" y="127"/>
                  </a:lnTo>
                  <a:lnTo>
                    <a:pt x="238" y="6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73910" tIns="36956" rIns="73910" bIns="36956" numCol="1" anchor="t" anchorCtr="0" compatLnSpc="1"/>
            <a:lstStyle/>
            <a:p>
              <a:endParaRPr lang="zh-CN" altLang="en-US" sz="242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20" name="Freeform 12"/>
            <p:cNvSpPr/>
            <p:nvPr/>
          </p:nvSpPr>
          <p:spPr bwMode="auto">
            <a:xfrm>
              <a:off x="6650" y="8119"/>
              <a:ext cx="495" cy="493"/>
            </a:xfrm>
            <a:custGeom>
              <a:avLst/>
              <a:gdLst>
                <a:gd name="T0" fmla="*/ 128 w 477"/>
                <a:gd name="T1" fmla="*/ 0 h 476"/>
                <a:gd name="T2" fmla="*/ 64 w 477"/>
                <a:gd name="T3" fmla="*/ 238 h 476"/>
                <a:gd name="T4" fmla="*/ 0 w 477"/>
                <a:gd name="T5" fmla="*/ 476 h 476"/>
                <a:gd name="T6" fmla="*/ 238 w 477"/>
                <a:gd name="T7" fmla="*/ 413 h 476"/>
                <a:gd name="T8" fmla="*/ 477 w 477"/>
                <a:gd name="T9" fmla="*/ 349 h 476"/>
                <a:gd name="T10" fmla="*/ 302 w 477"/>
                <a:gd name="T11" fmla="*/ 174 h 476"/>
                <a:gd name="T12" fmla="*/ 128 w 477"/>
                <a:gd name="T13" fmla="*/ 0 h 4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77" h="476">
                  <a:moveTo>
                    <a:pt x="128" y="0"/>
                  </a:moveTo>
                  <a:lnTo>
                    <a:pt x="64" y="238"/>
                  </a:lnTo>
                  <a:lnTo>
                    <a:pt x="0" y="476"/>
                  </a:lnTo>
                  <a:lnTo>
                    <a:pt x="238" y="413"/>
                  </a:lnTo>
                  <a:lnTo>
                    <a:pt x="477" y="349"/>
                  </a:lnTo>
                  <a:lnTo>
                    <a:pt x="302" y="174"/>
                  </a:lnTo>
                  <a:lnTo>
                    <a:pt x="12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73910" tIns="36956" rIns="73910" bIns="36956" numCol="1" anchor="t" anchorCtr="0" compatLnSpc="1"/>
            <a:lstStyle/>
            <a:p>
              <a:endParaRPr lang="zh-CN" altLang="en-US" sz="242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21" name="Freeform 13"/>
            <p:cNvSpPr/>
            <p:nvPr/>
          </p:nvSpPr>
          <p:spPr bwMode="auto">
            <a:xfrm>
              <a:off x="11457" y="8119"/>
              <a:ext cx="493" cy="493"/>
            </a:xfrm>
            <a:custGeom>
              <a:avLst/>
              <a:gdLst>
                <a:gd name="T0" fmla="*/ 349 w 477"/>
                <a:gd name="T1" fmla="*/ 0 h 476"/>
                <a:gd name="T2" fmla="*/ 413 w 477"/>
                <a:gd name="T3" fmla="*/ 238 h 476"/>
                <a:gd name="T4" fmla="*/ 477 w 477"/>
                <a:gd name="T5" fmla="*/ 476 h 476"/>
                <a:gd name="T6" fmla="*/ 238 w 477"/>
                <a:gd name="T7" fmla="*/ 413 h 476"/>
                <a:gd name="T8" fmla="*/ 0 w 477"/>
                <a:gd name="T9" fmla="*/ 349 h 476"/>
                <a:gd name="T10" fmla="*/ 175 w 477"/>
                <a:gd name="T11" fmla="*/ 174 h 476"/>
                <a:gd name="T12" fmla="*/ 349 w 477"/>
                <a:gd name="T13" fmla="*/ 0 h 4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77" h="476">
                  <a:moveTo>
                    <a:pt x="349" y="0"/>
                  </a:moveTo>
                  <a:lnTo>
                    <a:pt x="413" y="238"/>
                  </a:lnTo>
                  <a:lnTo>
                    <a:pt x="477" y="476"/>
                  </a:lnTo>
                  <a:lnTo>
                    <a:pt x="238" y="413"/>
                  </a:lnTo>
                  <a:lnTo>
                    <a:pt x="0" y="349"/>
                  </a:lnTo>
                  <a:lnTo>
                    <a:pt x="175" y="174"/>
                  </a:lnTo>
                  <a:lnTo>
                    <a:pt x="349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73910" tIns="36956" rIns="73910" bIns="36956" numCol="1" anchor="t" anchorCtr="0" compatLnSpc="1"/>
            <a:lstStyle/>
            <a:p>
              <a:endParaRPr lang="zh-CN" altLang="en-US" sz="242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grpSp>
          <p:nvGrpSpPr>
            <p:cNvPr id="3" name="组合 2"/>
            <p:cNvGrpSpPr/>
            <p:nvPr/>
          </p:nvGrpSpPr>
          <p:grpSpPr>
            <a:xfrm>
              <a:off x="6311" y="3207"/>
              <a:ext cx="5639" cy="5578"/>
              <a:chOff x="6311" y="3035"/>
              <a:chExt cx="6033" cy="6038"/>
            </a:xfrm>
          </p:grpSpPr>
          <p:sp>
            <p:nvSpPr>
              <p:cNvPr id="23" name="TextBox 34"/>
              <p:cNvSpPr txBox="1"/>
              <p:nvPr/>
            </p:nvSpPr>
            <p:spPr>
              <a:xfrm>
                <a:off x="7676" y="5076"/>
                <a:ext cx="3259" cy="2013"/>
              </a:xfrm>
              <a:prstGeom prst="rect">
                <a:avLst/>
              </a:prstGeom>
              <a:noFill/>
            </p:spPr>
            <p:txBody>
              <a:bodyPr wrap="square" lIns="73910" tIns="36956" rIns="73910" bIns="36956" rtlCol="0">
                <a:spAutoFit/>
              </a:bodyPr>
              <a:lstStyle/>
              <a:p>
                <a:pPr algn="ctr"/>
                <a:r>
                  <a:rPr lang="zh-CN" altLang="en-US" sz="3600" b="1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+mn-ea"/>
                  </a:rPr>
                  <a:t>未来</a:t>
                </a:r>
                <a:endParaRPr lang="zh-CN" altLang="en-US" sz="36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endParaRPr>
              </a:p>
              <a:p>
                <a:pPr algn="ctr"/>
                <a:r>
                  <a:rPr lang="zh-CN" altLang="en-US" sz="3600" b="1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+mn-ea"/>
                  </a:rPr>
                  <a:t>创新</a:t>
                </a:r>
                <a:endParaRPr lang="zh-CN" altLang="en-US" sz="36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endParaRPr>
              </a:p>
            </p:txBody>
          </p:sp>
          <p:sp>
            <p:nvSpPr>
              <p:cNvPr id="41" name="Freeform 6"/>
              <p:cNvSpPr/>
              <p:nvPr/>
            </p:nvSpPr>
            <p:spPr bwMode="auto">
              <a:xfrm>
                <a:off x="6311" y="3035"/>
                <a:ext cx="2942" cy="2945"/>
              </a:xfrm>
              <a:custGeom>
                <a:avLst/>
                <a:gdLst>
                  <a:gd name="T0" fmla="*/ 0 w 2839"/>
                  <a:gd name="T1" fmla="*/ 2839 h 2839"/>
                  <a:gd name="T2" fmla="*/ 2839 w 2839"/>
                  <a:gd name="T3" fmla="*/ 0 h 2839"/>
                  <a:gd name="T4" fmla="*/ 2839 w 2839"/>
                  <a:gd name="T5" fmla="*/ 872 h 2839"/>
                  <a:gd name="T6" fmla="*/ 872 w 2839"/>
                  <a:gd name="T7" fmla="*/ 2839 h 2839"/>
                  <a:gd name="T8" fmla="*/ 0 w 2839"/>
                  <a:gd name="T9" fmla="*/ 2839 h 28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839" h="2839">
                    <a:moveTo>
                      <a:pt x="0" y="2839"/>
                    </a:moveTo>
                    <a:cubicBezTo>
                      <a:pt x="37" y="1288"/>
                      <a:pt x="1288" y="37"/>
                      <a:pt x="2839" y="0"/>
                    </a:cubicBezTo>
                    <a:lnTo>
                      <a:pt x="2839" y="872"/>
                    </a:lnTo>
                    <a:cubicBezTo>
                      <a:pt x="1770" y="909"/>
                      <a:pt x="909" y="1770"/>
                      <a:pt x="872" y="2839"/>
                    </a:cubicBezTo>
                    <a:lnTo>
                      <a:pt x="0" y="2839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vert="horz" wrap="square" lIns="73910" tIns="36956" rIns="73910" bIns="36956" numCol="1" anchor="t" anchorCtr="0" compatLnSpc="1"/>
              <a:lstStyle/>
              <a:p>
                <a:endParaRPr lang="zh-CN" altLang="en-US" sz="2420">
                  <a:solidFill>
                    <a:schemeClr val="tx1">
                      <a:lumMod val="75000"/>
                      <a:lumOff val="25000"/>
                    </a:schemeClr>
                  </a:solidFill>
                </a:endParaRPr>
              </a:p>
            </p:txBody>
          </p:sp>
          <p:sp>
            <p:nvSpPr>
              <p:cNvPr id="42" name="Freeform 7"/>
              <p:cNvSpPr/>
              <p:nvPr/>
            </p:nvSpPr>
            <p:spPr bwMode="auto">
              <a:xfrm>
                <a:off x="6311" y="6128"/>
                <a:ext cx="2942" cy="2945"/>
              </a:xfrm>
              <a:custGeom>
                <a:avLst/>
                <a:gdLst>
                  <a:gd name="T0" fmla="*/ 2839 w 2839"/>
                  <a:gd name="T1" fmla="*/ 2839 h 2839"/>
                  <a:gd name="T2" fmla="*/ 0 w 2839"/>
                  <a:gd name="T3" fmla="*/ 0 h 2839"/>
                  <a:gd name="T4" fmla="*/ 872 w 2839"/>
                  <a:gd name="T5" fmla="*/ 0 h 2839"/>
                  <a:gd name="T6" fmla="*/ 2839 w 2839"/>
                  <a:gd name="T7" fmla="*/ 1967 h 2839"/>
                  <a:gd name="T8" fmla="*/ 2839 w 2839"/>
                  <a:gd name="T9" fmla="*/ 2839 h 28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839" h="2839">
                    <a:moveTo>
                      <a:pt x="2839" y="2839"/>
                    </a:moveTo>
                    <a:cubicBezTo>
                      <a:pt x="1288" y="2802"/>
                      <a:pt x="37" y="1551"/>
                      <a:pt x="0" y="0"/>
                    </a:cubicBezTo>
                    <a:lnTo>
                      <a:pt x="872" y="0"/>
                    </a:lnTo>
                    <a:cubicBezTo>
                      <a:pt x="909" y="1069"/>
                      <a:pt x="1770" y="1930"/>
                      <a:pt x="2839" y="1967"/>
                    </a:cubicBezTo>
                    <a:lnTo>
                      <a:pt x="2839" y="2839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vert="horz" wrap="square" lIns="73910" tIns="36956" rIns="73910" bIns="36956" numCol="1" anchor="t" anchorCtr="0" compatLnSpc="1"/>
              <a:lstStyle/>
              <a:p>
                <a:endParaRPr lang="zh-CN" altLang="en-US" sz="2420">
                  <a:solidFill>
                    <a:schemeClr val="tx1">
                      <a:lumMod val="75000"/>
                      <a:lumOff val="25000"/>
                    </a:schemeClr>
                  </a:solidFill>
                </a:endParaRPr>
              </a:p>
            </p:txBody>
          </p:sp>
          <p:sp>
            <p:nvSpPr>
              <p:cNvPr id="43" name="Freeform 8"/>
              <p:cNvSpPr/>
              <p:nvPr/>
            </p:nvSpPr>
            <p:spPr bwMode="auto">
              <a:xfrm>
                <a:off x="9402" y="6128"/>
                <a:ext cx="2942" cy="2945"/>
              </a:xfrm>
              <a:custGeom>
                <a:avLst/>
                <a:gdLst>
                  <a:gd name="T0" fmla="*/ 2839 w 2839"/>
                  <a:gd name="T1" fmla="*/ 0 h 2839"/>
                  <a:gd name="T2" fmla="*/ 0 w 2839"/>
                  <a:gd name="T3" fmla="*/ 2839 h 2839"/>
                  <a:gd name="T4" fmla="*/ 0 w 2839"/>
                  <a:gd name="T5" fmla="*/ 1967 h 2839"/>
                  <a:gd name="T6" fmla="*/ 1967 w 2839"/>
                  <a:gd name="T7" fmla="*/ 0 h 2839"/>
                  <a:gd name="T8" fmla="*/ 2839 w 2839"/>
                  <a:gd name="T9" fmla="*/ 0 h 28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839" h="2839">
                    <a:moveTo>
                      <a:pt x="2839" y="0"/>
                    </a:moveTo>
                    <a:cubicBezTo>
                      <a:pt x="2802" y="1551"/>
                      <a:pt x="1551" y="2802"/>
                      <a:pt x="0" y="2839"/>
                    </a:cubicBezTo>
                    <a:lnTo>
                      <a:pt x="0" y="1967"/>
                    </a:lnTo>
                    <a:cubicBezTo>
                      <a:pt x="1069" y="1930"/>
                      <a:pt x="1930" y="1069"/>
                      <a:pt x="1967" y="0"/>
                    </a:cubicBezTo>
                    <a:lnTo>
                      <a:pt x="2839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vert="horz" wrap="square" lIns="73910" tIns="36956" rIns="73910" bIns="36956" numCol="1" anchor="t" anchorCtr="0" compatLnSpc="1"/>
              <a:lstStyle/>
              <a:p>
                <a:endParaRPr lang="zh-CN" altLang="en-US" sz="2420">
                  <a:solidFill>
                    <a:schemeClr val="tx1">
                      <a:lumMod val="75000"/>
                      <a:lumOff val="25000"/>
                    </a:schemeClr>
                  </a:solidFill>
                </a:endParaRPr>
              </a:p>
            </p:txBody>
          </p:sp>
          <p:sp>
            <p:nvSpPr>
              <p:cNvPr id="44" name="Freeform 9"/>
              <p:cNvSpPr/>
              <p:nvPr/>
            </p:nvSpPr>
            <p:spPr bwMode="auto">
              <a:xfrm>
                <a:off x="9402" y="3035"/>
                <a:ext cx="2942" cy="2945"/>
              </a:xfrm>
              <a:custGeom>
                <a:avLst/>
                <a:gdLst>
                  <a:gd name="T0" fmla="*/ 0 w 2839"/>
                  <a:gd name="T1" fmla="*/ 0 h 2839"/>
                  <a:gd name="T2" fmla="*/ 2839 w 2839"/>
                  <a:gd name="T3" fmla="*/ 2839 h 2839"/>
                  <a:gd name="T4" fmla="*/ 1967 w 2839"/>
                  <a:gd name="T5" fmla="*/ 2839 h 2839"/>
                  <a:gd name="T6" fmla="*/ 0 w 2839"/>
                  <a:gd name="T7" fmla="*/ 872 h 2839"/>
                  <a:gd name="T8" fmla="*/ 0 w 2839"/>
                  <a:gd name="T9" fmla="*/ 0 h 28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839" h="2839">
                    <a:moveTo>
                      <a:pt x="0" y="0"/>
                    </a:moveTo>
                    <a:cubicBezTo>
                      <a:pt x="1551" y="37"/>
                      <a:pt x="2802" y="1288"/>
                      <a:pt x="2839" y="2839"/>
                    </a:cubicBezTo>
                    <a:lnTo>
                      <a:pt x="1967" y="2839"/>
                    </a:lnTo>
                    <a:cubicBezTo>
                      <a:pt x="1930" y="1770"/>
                      <a:pt x="1069" y="909"/>
                      <a:pt x="0" y="872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vert="horz" wrap="square" lIns="73910" tIns="36956" rIns="73910" bIns="36956" numCol="1" anchor="t" anchorCtr="0" compatLnSpc="1"/>
              <a:lstStyle/>
              <a:p>
                <a:endParaRPr lang="zh-CN" altLang="en-US" sz="2420">
                  <a:solidFill>
                    <a:schemeClr val="tx1">
                      <a:lumMod val="75000"/>
                      <a:lumOff val="25000"/>
                    </a:schemeClr>
                  </a:solidFill>
                </a:endParaRPr>
              </a:p>
            </p:txBody>
          </p:sp>
        </p:grpSp>
      </p:grpSp>
      <p:sp>
        <p:nvSpPr>
          <p:cNvPr id="2" name="文本框 1"/>
          <p:cNvSpPr txBox="1"/>
          <p:nvPr/>
        </p:nvSpPr>
        <p:spPr>
          <a:xfrm>
            <a:off x="370205" y="126365"/>
            <a:ext cx="220154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未来创新</a:t>
            </a:r>
            <a:endParaRPr lang="zh-CN" altLang="en-US" sz="2800" b="1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/>
      <p:bldP spid="32" grpId="0"/>
      <p:bldP spid="37" grpId="0"/>
      <p:bldP spid="39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框 17"/>
          <p:cNvSpPr txBox="1"/>
          <p:nvPr/>
        </p:nvSpPr>
        <p:spPr>
          <a:xfrm>
            <a:off x="2716413" y="2729511"/>
            <a:ext cx="6759174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6000" b="1" dirty="0">
                <a:solidFill>
                  <a:schemeClr val="bg1">
                    <a:lumMod val="9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谢谢各位老师指正</a:t>
            </a:r>
            <a:endParaRPr lang="zh-CN" altLang="en-US" sz="6000" b="1" dirty="0">
              <a:solidFill>
                <a:schemeClr val="bg1">
                  <a:lumMod val="9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0" name="TextBox 10"/>
          <p:cNvSpPr txBox="1"/>
          <p:nvPr/>
        </p:nvSpPr>
        <p:spPr>
          <a:xfrm>
            <a:off x="2565806" y="3990096"/>
            <a:ext cx="7060388" cy="523196"/>
          </a:xfrm>
          <a:prstGeom prst="rect">
            <a:avLst/>
          </a:prstGeom>
          <a:noFill/>
        </p:spPr>
        <p:txBody>
          <a:bodyPr wrap="square" lIns="91416" tIns="45708" rIns="91416" bIns="45708" rtlCol="0">
            <a:spAutoFit/>
          </a:bodyPr>
          <a:lstStyle>
            <a:defPPr>
              <a:defRPr lang="zh-CN"/>
            </a:defPPr>
            <a:lvl1pPr>
              <a:defRPr sz="20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algn="ctr"/>
            <a:r>
              <a:rPr lang="zh-CN" altLang="en-US" sz="2800" dirty="0">
                <a:solidFill>
                  <a:schemeClr val="bg1">
                    <a:lumMod val="95000"/>
                  </a:schemeClr>
                </a:solidFill>
              </a:rPr>
              <a:t>中山</a:t>
            </a:r>
            <a:r>
              <a:rPr lang="zh-CN" altLang="en-US" sz="2800" dirty="0">
                <a:solidFill>
                  <a:schemeClr val="bg1">
                    <a:lumMod val="9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大学信息工程学院</a:t>
            </a:r>
            <a:endParaRPr lang="en-US" altLang="zh-CN" sz="2800" dirty="0">
              <a:solidFill>
                <a:schemeClr val="bg1">
                  <a:lumMod val="9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9" name="图片 18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39399" y="582805"/>
            <a:ext cx="3513203" cy="1605599"/>
          </a:xfrm>
          <a:prstGeom prst="rect">
            <a:avLst/>
          </a:prstGeom>
        </p:spPr>
      </p:pic>
      <p:pic>
        <p:nvPicPr>
          <p:cNvPr id="15" name="图片 14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1604" b="46967"/>
          <a:stretch>
            <a:fillRect/>
          </a:stretch>
        </p:blipFill>
        <p:spPr>
          <a:xfrm>
            <a:off x="-8648" y="2196316"/>
            <a:ext cx="12209296" cy="2877923"/>
          </a:xfrm>
          <a:prstGeom prst="rect">
            <a:avLst/>
          </a:prstGeom>
        </p:spPr>
      </p:pic>
      <p:sp>
        <p:nvSpPr>
          <p:cNvPr id="21" name="矩形 20"/>
          <p:cNvSpPr/>
          <p:nvPr/>
        </p:nvSpPr>
        <p:spPr>
          <a:xfrm>
            <a:off x="8648" y="2188404"/>
            <a:ext cx="12192000" cy="2877922"/>
          </a:xfrm>
          <a:prstGeom prst="rect">
            <a:avLst/>
          </a:prstGeom>
          <a:gradFill>
            <a:gsLst>
              <a:gs pos="0">
                <a:srgbClr val="014723"/>
              </a:gs>
              <a:gs pos="59000">
                <a:srgbClr val="014723">
                  <a:alpha val="60000"/>
                </a:srgbClr>
              </a:gs>
              <a:gs pos="100000">
                <a:srgbClr val="014723">
                  <a:alpha val="10000"/>
                </a:srgbClr>
              </a:gs>
            </a:gsLst>
            <a:lin ang="108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文本框 21"/>
          <p:cNvSpPr txBox="1"/>
          <p:nvPr/>
        </p:nvSpPr>
        <p:spPr>
          <a:xfrm>
            <a:off x="1879478" y="2881911"/>
            <a:ext cx="8433044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6000" b="1" dirty="0">
                <a:solidFill>
                  <a:schemeClr val="bg1">
                    <a:lumMod val="9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敬请各位老师批评指正</a:t>
            </a:r>
            <a:endParaRPr lang="zh-CN" altLang="en-US" sz="6000" b="1" dirty="0">
              <a:solidFill>
                <a:schemeClr val="bg1">
                  <a:lumMod val="9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407.65133858267717,&quot;left&quot;:118.29055118110236,&quot;top&quot;:94.05,&quot;width&quot;:781.8094488188976}"/>
</p:tagLst>
</file>

<file path=ppt/tags/tag2.xml><?xml version="1.0" encoding="utf-8"?>
<p:tagLst xmlns:p="http://schemas.openxmlformats.org/presentationml/2006/main">
  <p:tag name="KSO_WM_DIAGRAM_VIRTUALLY_FRAME" val="{&quot;height&quot;:326.95031496062995,&quot;left&quot;:118.29055118110236,&quot;top&quot;:166.23527559055117,&quot;width&quot;:724.3338582677166}"/>
</p:tagLst>
</file>

<file path=ppt/tags/tag3.xml><?xml version="1.0" encoding="utf-8"?>
<p:tagLst xmlns:p="http://schemas.openxmlformats.org/presentationml/2006/main">
  <p:tag name="KSO_WM_DIAGRAM_VIRTUALLY_FRAME" val="{&quot;height&quot;:407.65133858267717,&quot;left&quot;:118.29055118110236,&quot;top&quot;:94.05,&quot;width&quot;:781.8094488188976}"/>
</p:tagLst>
</file>

<file path=ppt/tags/tag4.xml><?xml version="1.0" encoding="utf-8"?>
<p:tagLst xmlns:p="http://schemas.openxmlformats.org/presentationml/2006/main">
  <p:tag name="KSO_WM_DIAGRAM_VIRTUALLY_FRAME" val="{&quot;height&quot;:407.65133858267717,&quot;left&quot;:118.29055118110236,&quot;top&quot;:94.05,&quot;width&quot;:781.8094488188976}"/>
</p:tagLst>
</file>

<file path=ppt/tags/tag5.xml><?xml version="1.0" encoding="utf-8"?>
<p:tagLst xmlns:p="http://schemas.openxmlformats.org/presentationml/2006/main">
  <p:tag name="KSO_WM_DIAGRAM_VIRTUALLY_FRAME" val="{&quot;height&quot;:326.95031496062995,&quot;left&quot;:118.29055118110236,&quot;top&quot;:166.23527559055117,&quot;width&quot;:724.3338582677166}"/>
</p:tagLst>
</file>

<file path=ppt/tags/tag6.xml><?xml version="1.0" encoding="utf-8"?>
<p:tagLst xmlns:p="http://schemas.openxmlformats.org/presentationml/2006/main">
  <p:tag name="KSO_WM_DIAGRAM_VIRTUALLY_FRAME" val="{&quot;height&quot;:407.65133858267717,&quot;left&quot;:118.29055118110236,&quot;top&quot;:94.05,&quot;width&quot;:781.8094488188976}"/>
</p:tagLst>
</file>

<file path=ppt/tags/tag7.xml><?xml version="1.0" encoding="utf-8"?>
<p:tagLst xmlns:p="http://schemas.openxmlformats.org/presentationml/2006/main">
  <p:tag name="KSO_WM_DIAGRAM_VIRTUALLY_FRAME" val="{&quot;height&quot;:407.65133858267717,&quot;left&quot;:118.29055118110236,&quot;top&quot;:94.05,&quot;width&quot;:781.8094488188976}"/>
</p:tagLst>
</file>

<file path=ppt/tags/tag8.xml><?xml version="1.0" encoding="utf-8"?>
<p:tagLst xmlns:p="http://schemas.openxmlformats.org/presentationml/2006/main">
  <p:tag name="KSO_WM_DIAGRAM_VIRTUALLY_FRAME" val="{&quot;height&quot;:326.95031496062995,&quot;left&quot;:118.29055118110236,&quot;top&quot;:166.23527559055117,&quot;width&quot;:724.3338582677166}"/>
</p:tagLst>
</file>

<file path=ppt/tags/tag9.xml><?xml version="1.0" encoding="utf-8"?>
<p:tagLst xmlns:p="http://schemas.openxmlformats.org/presentationml/2006/main">
  <p:tag name="KSO_WM_DIAGRAM_VIRTUALLY_FRAME" val="{&quot;height&quot;:407.65133858267717,&quot;left&quot;:118.29055118110236,&quot;top&quot;:94.05,&quot;width&quot;:781.8094488188976}"/>
</p:tagLst>
</file>

<file path=ppt/tags/tag10.xml><?xml version="1.0" encoding="utf-8"?>
<p:tagLst xmlns:p="http://schemas.openxmlformats.org/presentationml/2006/main">
  <p:tag name="KSO_WM_DIAGRAM_VIRTUALLY_FRAME" val="{&quot;height&quot;:407.65133858267717,&quot;left&quot;:118.29055118110236,&quot;top&quot;:94.05,&quot;width&quot;:781.8094488188976}"/>
</p:tagLst>
</file>

<file path=ppt/tags/tag11.xml><?xml version="1.0" encoding="utf-8"?>
<p:tagLst xmlns:p="http://schemas.openxmlformats.org/presentationml/2006/main">
  <p:tag name="KSO_WM_DIAGRAM_VIRTUALLY_FRAME" val="{&quot;height&quot;:407.65133858267717,&quot;left&quot;:118.29055118110236,&quot;top&quot;:94.05,&quot;width&quot;:781.8094488188976}"/>
</p:tagLst>
</file>

<file path=ppt/tags/tag12.xml><?xml version="1.0" encoding="utf-8"?>
<p:tagLst xmlns:p="http://schemas.openxmlformats.org/presentationml/2006/main">
  <p:tag name="KSO_WM_DIAGRAM_VIRTUALLY_FRAME" val="{&quot;height&quot;:407.65133858267717,&quot;left&quot;:118.29055118110236,&quot;top&quot;:94.05,&quot;width&quot;:781.8094488188976}"/>
</p:tagLst>
</file>

<file path=ppt/tags/tag13.xml><?xml version="1.0" encoding="utf-8"?>
<p:tagLst xmlns:p="http://schemas.openxmlformats.org/presentationml/2006/main">
  <p:tag name="KSO_WM_DIAGRAM_VIRTUALLY_FRAME" val="{&quot;height&quot;:407.65133858267717,&quot;left&quot;:118.29055118110236,&quot;top&quot;:94.05,&quot;width&quot;:781.8094488188976}"/>
</p:tagLst>
</file>

<file path=ppt/tags/tag14.xml><?xml version="1.0" encoding="utf-8"?>
<p:tagLst xmlns:p="http://schemas.openxmlformats.org/presentationml/2006/main">
  <p:tag name="KSO_WM_DIAGRAM_VIRTUALLY_FRAME" val="{&quot;height&quot;:407.65133858267717,&quot;left&quot;:118.29055118110236,&quot;top&quot;:94.05,&quot;width&quot;:781.8094488188976}"/>
</p:tagLst>
</file>

<file path=ppt/tags/tag15.xml><?xml version="1.0" encoding="utf-8"?>
<p:tagLst xmlns:p="http://schemas.openxmlformats.org/presentationml/2006/main">
  <p:tag name="KSO_WM_DIAGRAM_VIRTUALLY_FRAME" val="{&quot;height&quot;:407.65133858267717,&quot;left&quot;:118.29055118110236,&quot;top&quot;:94.05,&quot;width&quot;:781.8094488188976}"/>
</p:tagLst>
</file>

<file path=ppt/tags/tag16.xml><?xml version="1.0" encoding="utf-8"?>
<p:tagLst xmlns:p="http://schemas.openxmlformats.org/presentationml/2006/main">
  <p:tag name="KSO_WM_DIAGRAM_VIRTUALLY_FRAME" val="{&quot;height&quot;:407.65133858267717,&quot;left&quot;:118.29055118110236,&quot;top&quot;:94.05,&quot;width&quot;:781.8094488188976}"/>
</p:tagLst>
</file>

<file path=ppt/tags/tag17.xml><?xml version="1.0" encoding="utf-8"?>
<p:tagLst xmlns:p="http://schemas.openxmlformats.org/presentationml/2006/main">
  <p:tag name="KSO_WM_DIAGRAM_VIRTUALLY_FRAME" val="{&quot;height&quot;:407.65133858267717,&quot;left&quot;:118.29055118110236,&quot;top&quot;:94.05,&quot;width&quot;:781.8094488188976}"/>
</p:tagLst>
</file>

<file path=ppt/tags/tag18.xml><?xml version="1.0" encoding="utf-8"?>
<p:tagLst xmlns:p="http://schemas.openxmlformats.org/presentationml/2006/main">
  <p:tag name="KSO_WM_DIAGRAM_VIRTUALLY_FRAME" val="{&quot;height&quot;:407.65133858267717,&quot;left&quot;:118.29055118110236,&quot;top&quot;:94.05,&quot;width&quot;:781.8094488188976}"/>
</p:tagLst>
</file>

<file path=ppt/tags/tag19.xml><?xml version="1.0" encoding="utf-8"?>
<p:tagLst xmlns:p="http://schemas.openxmlformats.org/presentationml/2006/main">
  <p:tag name="KSO_WM_DIAGRAM_VIRTUALLY_FRAME" val="{&quot;height&quot;:407.65133858267717,&quot;left&quot;:118.29055118110236,&quot;top&quot;:94.05,&quot;width&quot;:781.8094488188976}"/>
</p:tagLst>
</file>

<file path=ppt/tags/tag20.xml><?xml version="1.0" encoding="utf-8"?>
<p:tagLst xmlns:p="http://schemas.openxmlformats.org/presentationml/2006/main">
  <p:tag name="KSO_WM_DIAGRAM_VIRTUALLY_FRAME" val="{&quot;height&quot;:407.65133858267717,&quot;left&quot;:118.29055118110236,&quot;top&quot;:94.05,&quot;width&quot;:781.8094488188976}"/>
</p:tagLst>
</file>

<file path=ppt/tags/tag21.xml><?xml version="1.0" encoding="utf-8"?>
<p:tagLst xmlns:p="http://schemas.openxmlformats.org/presentationml/2006/main">
  <p:tag name="KSO_WM_DIAGRAM_VIRTUALLY_FRAME" val="{&quot;height&quot;:407.65133858267717,&quot;left&quot;:118.29055118110236,&quot;top&quot;:94.05,&quot;width&quot;:781.8094488188976}"/>
</p:tagLst>
</file>

<file path=ppt/tags/tag22.xml><?xml version="1.0" encoding="utf-8"?>
<p:tagLst xmlns:p="http://schemas.openxmlformats.org/presentationml/2006/main">
  <p:tag name="KSO_WM_DIAGRAM_VIRTUALLY_FRAME" val="{&quot;height&quot;:407.65133858267717,&quot;left&quot;:118.29055118110236,&quot;top&quot;:94.05,&quot;width&quot;:781.8094488188976}"/>
</p:tagLst>
</file>

<file path=ppt/tags/tag23.xml><?xml version="1.0" encoding="utf-8"?>
<p:tagLst xmlns:p="http://schemas.openxmlformats.org/presentationml/2006/main">
  <p:tag name="KSO_WM_DIAGRAM_VIRTUALLY_FRAME" val="{&quot;height&quot;:391.4517322834646,&quot;left&quot;:19.15,&quot;top&quot;:103.3,&quot;width&quot;:901.75}"/>
</p:tagLst>
</file>

<file path=ppt/tags/tag24.xml><?xml version="1.0" encoding="utf-8"?>
<p:tagLst xmlns:p="http://schemas.openxmlformats.org/presentationml/2006/main">
  <p:tag name="KSO_WM_DIAGRAM_VIRTUALLY_FRAME" val="{&quot;height&quot;:391.4517322834646,&quot;left&quot;:19.15,&quot;top&quot;:103.3,&quot;width&quot;:901.75}"/>
</p:tagLst>
</file>

<file path=ppt/tags/tag25.xml><?xml version="1.0" encoding="utf-8"?>
<p:tagLst xmlns:p="http://schemas.openxmlformats.org/presentationml/2006/main">
  <p:tag name="KSO_WM_DIAGRAM_VIRTUALLY_FRAME" val="{&quot;height&quot;:391.4517322834646,&quot;left&quot;:19.15,&quot;top&quot;:103.3,&quot;width&quot;:901.75}"/>
</p:tagLst>
</file>

<file path=ppt/tags/tag26.xml><?xml version="1.0" encoding="utf-8"?>
<p:tagLst xmlns:p="http://schemas.openxmlformats.org/presentationml/2006/main">
  <p:tag name="KSO_WM_DIAGRAM_VIRTUALLY_FRAME" val="{&quot;height&quot;:391.4517322834646,&quot;left&quot;:19.15,&quot;top&quot;:103.3,&quot;width&quot;:901.75}"/>
</p:tagLst>
</file>

<file path=ppt/tags/tag27.xml><?xml version="1.0" encoding="utf-8"?>
<p:tagLst xmlns:p="http://schemas.openxmlformats.org/presentationml/2006/main">
  <p:tag name="KSO_WM_DIAGRAM_VIRTUALLY_FRAME" val="{&quot;height&quot;:391.4517322834646,&quot;left&quot;:19.15,&quot;top&quot;:103.3,&quot;width&quot;:901.75}"/>
</p:tagLst>
</file>

<file path=ppt/tags/tag28.xml><?xml version="1.0" encoding="utf-8"?>
<p:tagLst xmlns:p="http://schemas.openxmlformats.org/presentationml/2006/main">
  <p:tag name="KSO_WM_DIAGRAM_VIRTUALLY_FRAME" val="{&quot;height&quot;:391.4517322834646,&quot;left&quot;:19.15,&quot;top&quot;:103.3,&quot;width&quot;:901.75}"/>
</p:tagLst>
</file>

<file path=ppt/tags/tag29.xml><?xml version="1.0" encoding="utf-8"?>
<p:tagLst xmlns:p="http://schemas.openxmlformats.org/presentationml/2006/main">
  <p:tag name="KSO_WM_DIAGRAM_VIRTUALLY_FRAME" val="{&quot;height&quot;:391.4517322834646,&quot;left&quot;:19.15,&quot;top&quot;:103.3,&quot;width&quot;:901.75}"/>
</p:tagLst>
</file>

<file path=ppt/tags/tag30.xml><?xml version="1.0" encoding="utf-8"?>
<p:tagLst xmlns:p="http://schemas.openxmlformats.org/presentationml/2006/main">
  <p:tag name="KSO_WM_DIAGRAM_VIRTUALLY_FRAME" val="{&quot;height&quot;:391.4517322834646,&quot;left&quot;:19.15,&quot;top&quot;:103.3,&quot;width&quot;:901.75}"/>
</p:tagLst>
</file>

<file path=ppt/tags/tag31.xml><?xml version="1.0" encoding="utf-8"?>
<p:tagLst xmlns:p="http://schemas.openxmlformats.org/presentationml/2006/main">
  <p:tag name="KSO_WM_DIAGRAM_VIRTUALLY_FRAME" val="{&quot;height&quot;:391.4517322834646,&quot;left&quot;:19.15,&quot;top&quot;:103.3,&quot;width&quot;:901.75}"/>
</p:tagLst>
</file>

<file path=ppt/tags/tag32.xml><?xml version="1.0" encoding="utf-8"?>
<p:tagLst xmlns:p="http://schemas.openxmlformats.org/presentationml/2006/main">
  <p:tag name="KSO_WM_DIAGRAM_VIRTUALLY_FRAME" val="{&quot;height&quot;:495.3,&quot;left&quot;:0,&quot;top&quot;:62.35,&quot;width&quot;:862.15}"/>
</p:tagLst>
</file>

<file path=ppt/tags/tag33.xml><?xml version="1.0" encoding="utf-8"?>
<p:tagLst xmlns:p="http://schemas.openxmlformats.org/presentationml/2006/main">
  <p:tag name="KSO_WM_DIAGRAM_VIRTUALLY_FRAME" val="{&quot;height&quot;:495.3,&quot;left&quot;:0,&quot;top&quot;:62.35,&quot;width&quot;:862.15}"/>
</p:tagLst>
</file>

<file path=ppt/tags/tag34.xml><?xml version="1.0" encoding="utf-8"?>
<p:tagLst xmlns:p="http://schemas.openxmlformats.org/presentationml/2006/main">
  <p:tag name="KSO_WM_DIAGRAM_VIRTUALLY_FRAME" val="{&quot;height&quot;:495.3,&quot;left&quot;:0,&quot;top&quot;:62.35,&quot;width&quot;:862.15}"/>
</p:tagLst>
</file>

<file path=ppt/tags/tag35.xml><?xml version="1.0" encoding="utf-8"?>
<p:tagLst xmlns:p="http://schemas.openxmlformats.org/presentationml/2006/main">
  <p:tag name="KSO_WM_DIAGRAM_VIRTUALLY_FRAME" val="{&quot;height&quot;:495.3,&quot;left&quot;:0,&quot;top&quot;:62.35,&quot;width&quot;:862.15}"/>
</p:tagLst>
</file>

<file path=ppt/tags/tag36.xml><?xml version="1.0" encoding="utf-8"?>
<p:tagLst xmlns:p="http://schemas.openxmlformats.org/presentationml/2006/main">
  <p:tag name="KSO_WM_DIAGRAM_VIRTUALLY_FRAME" val="{&quot;height&quot;:495.3,&quot;left&quot;:0,&quot;top&quot;:62.35,&quot;width&quot;:862.15}"/>
</p:tagLst>
</file>

<file path=ppt/tags/tag37.xml><?xml version="1.0" encoding="utf-8"?>
<p:tagLst xmlns:p="http://schemas.openxmlformats.org/presentationml/2006/main">
  <p:tag name="KSO_WM_DIAGRAM_VIRTUALLY_FRAME" val="{&quot;height&quot;:495.3,&quot;left&quot;:0,&quot;top&quot;:62.35,&quot;width&quot;:862.15}"/>
</p:tagLst>
</file>

<file path=ppt/theme/theme1.xml><?xml version="1.0" encoding="utf-8"?>
<a:theme xmlns:a="http://schemas.openxmlformats.org/drawingml/2006/main" name="Office 主题​​">
  <a:themeElements>
    <a:clrScheme name="自定义 2">
      <a:dk1>
        <a:sysClr val="windowText" lastClr="000000"/>
      </a:dk1>
      <a:lt1>
        <a:sysClr val="window" lastClr="FFFFFF"/>
      </a:lt1>
      <a:dk2>
        <a:srgbClr val="455F51"/>
      </a:dk2>
      <a:lt2>
        <a:srgbClr val="E3DED1"/>
      </a:lt2>
      <a:accent1>
        <a:srgbClr val="004723"/>
      </a:accent1>
      <a:accent2>
        <a:srgbClr val="8AB833"/>
      </a:accent2>
      <a:accent3>
        <a:srgbClr val="C0CF3A"/>
      </a:accent3>
      <a:accent4>
        <a:srgbClr val="029676"/>
      </a:accent4>
      <a:accent5>
        <a:srgbClr val="4AB5C4"/>
      </a:accent5>
      <a:accent6>
        <a:srgbClr val="0989B1"/>
      </a:accent6>
      <a:hlink>
        <a:srgbClr val="6B9F25"/>
      </a:hlink>
      <a:folHlink>
        <a:srgbClr val="BA6906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873</Words>
  <Application>WPS 演示</Application>
  <PresentationFormat>宽屏</PresentationFormat>
  <Paragraphs>134</Paragraphs>
  <Slides>10</Slides>
  <Notes>9</Notes>
  <HiddenSlides>0</HiddenSlides>
  <MMClips>1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0" baseType="lpstr">
      <vt:lpstr>Arial</vt:lpstr>
      <vt:lpstr>宋体</vt:lpstr>
      <vt:lpstr>Wingdings</vt:lpstr>
      <vt:lpstr>微软雅黑</vt:lpstr>
      <vt:lpstr>Calibri</vt:lpstr>
      <vt:lpstr>Impact</vt:lpstr>
      <vt:lpstr>等线</vt:lpstr>
      <vt:lpstr>Arial Unicode MS</vt:lpstr>
      <vt:lpstr>等线 Light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答辩-19</dc:title>
  <dc:creator>LP</dc:creator>
  <cp:lastModifiedBy>何翌宁</cp:lastModifiedBy>
  <cp:revision>253</cp:revision>
  <dcterms:created xsi:type="dcterms:W3CDTF">2016-11-24T09:20:00Z</dcterms:created>
  <dcterms:modified xsi:type="dcterms:W3CDTF">2025-12-17T09:44:17Z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2052-12.1.0.24034</vt:lpwstr>
  </property>
  <property fmtid="{D5CDD505-2E9C-101B-9397-08002B2CF9AE}" pid="3" name="ICV">
    <vt:lpwstr>E559EDAE1F1E49E3BF3083E86754534B_13</vt:lpwstr>
  </property>
</Properties>
</file>